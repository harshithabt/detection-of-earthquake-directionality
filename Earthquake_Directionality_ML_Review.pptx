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ED1C1BD-B0A2-5FEE-44A4-0280F73C7B76}">
          <p14:sldIdLst>
            <p14:sldId id="256"/>
            <p14:sldId id="257"/>
            <p14:sldId id="258"/>
          </p14:sldIdLst>
        </p14:section>
        <p14:section name="Method" id="{2CD018BA-7583-82F9-6E90-FB936658430D}">
          <p14:sldIdLst>
            <p14:sldId id="259"/>
            <p14:sldId id="260"/>
            <p14:sldId id="261"/>
            <p14:sldId id="262"/>
          </p14:sldIdLst>
        </p14:section>
        <p14:section name="Results" id="{787C43C9-BF60-40D5-6530-5F2833A1E586}">
          <p14:sldIdLst>
            <p14:sldId id="263"/>
            <p14:sldId id="264"/>
            <p14:sldId id="265"/>
          </p14:sldIdLst>
        </p14:section>
        <p14:section name="Discussion" id="{678F1191-A08F-95EF-7621-6C6D1825884F}">
          <p14:sldIdLst>
            <p14:sldId id="266"/>
            <p14:sldId id="267"/>
            <p14:sldId id="268"/>
          </p14:sldIdLst>
        </p14:section>
        <p14:section name="Close" id="{C67C96BF-015D-AA20-EB14-B85E7D825D21}">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6" d="100"/>
          <a:sy n="66" d="100"/>
        </p:scale>
        <p:origin x="1002" y="46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EFE5CB"/>
                </a:solidFill>
                <a:latin typeface="+mn-lt"/>
              </a:defRPr>
            </a:pPr>
            <a:r>
              <a:rPr lang="en-US" sz="1400" b="0" i="0" u="none" strike="noStrike">
                <a:solidFill>
                  <a:srgbClr val="EFE5CB"/>
                </a:solidFill>
                <a:latin typeface="+mn-lt"/>
              </a:rPr>
              <a:t>Test error in degrees (lower is better)</a:t>
            </a:r>
          </a:p>
        </c:rich>
      </c:tx>
      <c:overlay val="0"/>
    </c:title>
    <c:autoTitleDeleted val="0"/>
    <c:plotArea>
      <c:layout/>
      <c:barChart>
        <c:barDir val="col"/>
        <c:grouping val="clustered"/>
        <c:varyColors val="0"/>
        <c:ser>
          <c:idx val="0"/>
          <c:order val="0"/>
          <c:tx>
            <c:strRef>
              <c:f>Sheet1!$B$1</c:f>
              <c:strCache>
                <c:ptCount val="1"/>
                <c:pt idx="0">
                  <c:v>MAE (°)</c:v>
                </c:pt>
              </c:strCache>
            </c:strRef>
          </c:tx>
          <c:spPr>
            <a:solidFill>
              <a:srgbClr val="F08A4B"/>
            </a:solidFill>
            <a:effectLst/>
          </c:spPr>
          <c:invertIfNegative val="0"/>
          <c:dLbls>
            <c:numFmt formatCode="0.00" sourceLinked="0"/>
            <c:spPr>
              <a:noFill/>
              <a:ln>
                <a:noFill/>
              </a:ln>
              <a:effectLst/>
            </c:spPr>
            <c:txPr>
              <a:bodyPr/>
              <a:lstStyle/>
              <a:p>
                <a:pPr>
                  <a:defRPr sz="1300" b="0" i="0" u="none" strike="noStrike">
                    <a:solidFill>
                      <a:srgbClr val="EFE5C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Constant median</c:v>
                </c:pt>
                <c:pt idx="1">
                  <c:v>Ridge (α = 10)</c:v>
                </c:pt>
                <c:pt idx="2">
                  <c:v>MLP (32, 16)</c:v>
                </c:pt>
              </c:strCache>
            </c:strRef>
          </c:cat>
          <c:val>
            <c:numRef>
              <c:f>Sheet1!$B$2:$B$4</c:f>
              <c:numCache>
                <c:formatCode>General</c:formatCode>
                <c:ptCount val="3"/>
                <c:pt idx="0">
                  <c:v>23.17</c:v>
                </c:pt>
                <c:pt idx="1">
                  <c:v>22.86</c:v>
                </c:pt>
                <c:pt idx="2">
                  <c:v>27.04</c:v>
                </c:pt>
              </c:numCache>
            </c:numRef>
          </c:val>
          <c:extLst>
            <c:ext xmlns:c16="http://schemas.microsoft.com/office/drawing/2014/chart" uri="{C3380CC4-5D6E-409C-BE32-E72D297353CC}">
              <c16:uniqueId val="{00000000-ED9C-4805-A7A3-1AF78C34B97A}"/>
            </c:ext>
          </c:extLst>
        </c:ser>
        <c:ser>
          <c:idx val="1"/>
          <c:order val="1"/>
          <c:tx>
            <c:strRef>
              <c:f>Sheet1!$C$1</c:f>
              <c:strCache>
                <c:ptCount val="1"/>
                <c:pt idx="0">
                  <c:v>RMSE (°)</c:v>
                </c:pt>
              </c:strCache>
            </c:strRef>
          </c:tx>
          <c:spPr>
            <a:solidFill>
              <a:srgbClr val="A9C4AE"/>
            </a:solidFill>
            <a:effectLst/>
          </c:spPr>
          <c:invertIfNegative val="0"/>
          <c:dLbls>
            <c:numFmt formatCode="0.00" sourceLinked="0"/>
            <c:spPr>
              <a:noFill/>
              <a:ln>
                <a:noFill/>
              </a:ln>
              <a:effectLst/>
            </c:spPr>
            <c:txPr>
              <a:bodyPr/>
              <a:lstStyle/>
              <a:p>
                <a:pPr>
                  <a:defRPr sz="1300" b="0" i="0" u="none" strike="noStrike">
                    <a:solidFill>
                      <a:srgbClr val="EFE5C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Constant median</c:v>
                </c:pt>
                <c:pt idx="1">
                  <c:v>Ridge (α = 10)</c:v>
                </c:pt>
                <c:pt idx="2">
                  <c:v>MLP (32, 16)</c:v>
                </c:pt>
              </c:strCache>
            </c:strRef>
          </c:cat>
          <c:val>
            <c:numRef>
              <c:f>Sheet1!$C$2:$C$4</c:f>
              <c:numCache>
                <c:formatCode>General</c:formatCode>
                <c:ptCount val="3"/>
                <c:pt idx="0">
                  <c:v>27.49</c:v>
                </c:pt>
                <c:pt idx="1">
                  <c:v>27.43</c:v>
                </c:pt>
                <c:pt idx="2">
                  <c:v>33.159999999999997</c:v>
                </c:pt>
              </c:numCache>
            </c:numRef>
          </c:val>
          <c:extLst>
            <c:ext xmlns:c16="http://schemas.microsoft.com/office/drawing/2014/chart" uri="{C3380CC4-5D6E-409C-BE32-E72D297353CC}">
              <c16:uniqueId val="{00000001-ED9C-4805-A7A3-1AF78C34B97A}"/>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EFE5CB"/>
                </a:solidFill>
                <a:latin typeface="+mn-lt"/>
              </a:defRPr>
            </a:pPr>
            <a:endParaRPr lang="en-US"/>
          </a:p>
        </c:txPr>
        <c:crossAx val="2094734552"/>
        <c:crosses val="autoZero"/>
        <c:auto val="1"/>
        <c:lblAlgn val="ctr"/>
        <c:lblOffset val="100"/>
        <c:noMultiLvlLbl val="1"/>
      </c:catAx>
      <c:valAx>
        <c:axId val="2094734552"/>
        <c:scaling>
          <c:orientation val="minMax"/>
          <c:max val="40"/>
          <c:min val="0"/>
        </c:scaling>
        <c:delete val="0"/>
        <c:axPos val="l"/>
        <c:majorGridlines>
          <c:spPr>
            <a:ln w="9525" cap="flat">
              <a:solidFill>
                <a:srgbClr val="4F6C5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9C4AE"/>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300">
              <a:solidFill>
                <a:srgbClr val="EFE5CB"/>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EFE5CB"/>
                </a:solidFill>
                <a:latin typeface="+mn-lt"/>
              </a:defRPr>
            </a:pPr>
            <a:r>
              <a:rPr lang="en-US" sz="1400" b="0" i="0" u="none" strike="noStrike">
                <a:solidFill>
                  <a:srgbClr val="EFE5CB"/>
                </a:solidFill>
                <a:latin typeface="+mn-lt"/>
              </a:rPr>
              <a:t>Test MAE in degrees (lower is better)</a:t>
            </a:r>
          </a:p>
        </c:rich>
      </c:tx>
      <c:overlay val="0"/>
    </c:title>
    <c:autoTitleDeleted val="0"/>
    <c:plotArea>
      <c:layout/>
      <c:barChart>
        <c:barDir val="col"/>
        <c:grouping val="clustered"/>
        <c:varyColors val="0"/>
        <c:ser>
          <c:idx val="0"/>
          <c:order val="0"/>
          <c:tx>
            <c:strRef>
              <c:f>Sheet1!$B$1</c:f>
              <c:strCache>
                <c:ptCount val="1"/>
                <c:pt idx="0">
                  <c:v>Paper (≤ 5 km, about 5,300 pairs)</c:v>
                </c:pt>
              </c:strCache>
            </c:strRef>
          </c:tx>
          <c:spPr>
            <a:solidFill>
              <a:srgbClr val="A9C4AE"/>
            </a:solidFill>
            <a:effectLst/>
          </c:spPr>
          <c:invertIfNegative val="0"/>
          <c:dLbls>
            <c:numFmt formatCode="0.0" sourceLinked="0"/>
            <c:spPr>
              <a:noFill/>
              <a:ln>
                <a:noFill/>
              </a:ln>
              <a:effectLst/>
            </c:spPr>
            <c:txPr>
              <a:bodyPr/>
              <a:lstStyle/>
              <a:p>
                <a:pPr>
                  <a:defRPr sz="1300" b="0" i="0" u="none" strike="noStrike">
                    <a:solidFill>
                      <a:srgbClr val="EFE5C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Distance-only benchmark</c:v>
                </c:pt>
                <c:pt idx="1">
                  <c:v>Ridge</c:v>
                </c:pt>
                <c:pt idx="2">
                  <c:v>Neural network / MLP</c:v>
                </c:pt>
              </c:strCache>
            </c:strRef>
          </c:cat>
          <c:val>
            <c:numRef>
              <c:f>Sheet1!$B$2:$B$4</c:f>
              <c:numCache>
                <c:formatCode>General</c:formatCode>
                <c:ptCount val="3"/>
                <c:pt idx="0">
                  <c:v>20.2</c:v>
                </c:pt>
                <c:pt idx="1">
                  <c:v>16.899999999999999</c:v>
                </c:pt>
                <c:pt idx="2">
                  <c:v>13.2</c:v>
                </c:pt>
              </c:numCache>
            </c:numRef>
          </c:val>
          <c:extLst>
            <c:ext xmlns:c16="http://schemas.microsoft.com/office/drawing/2014/chart" uri="{C3380CC4-5D6E-409C-BE32-E72D297353CC}">
              <c16:uniqueId val="{00000000-BF8E-4BAB-83AC-2995AC31DB59}"/>
            </c:ext>
          </c:extLst>
        </c:ser>
        <c:ser>
          <c:idx val="1"/>
          <c:order val="1"/>
          <c:tx>
            <c:strRef>
              <c:f>Sheet1!$C$1</c:f>
              <c:strCache>
                <c:ptCount val="1"/>
                <c:pt idx="0">
                  <c:v>Ours (≤ 100 km, 269 pairs)</c:v>
                </c:pt>
              </c:strCache>
            </c:strRef>
          </c:tx>
          <c:spPr>
            <a:solidFill>
              <a:srgbClr val="F08A4B"/>
            </a:solidFill>
            <a:effectLst/>
          </c:spPr>
          <c:invertIfNegative val="0"/>
          <c:dLbls>
            <c:numFmt formatCode="0.0" sourceLinked="0"/>
            <c:spPr>
              <a:noFill/>
              <a:ln>
                <a:noFill/>
              </a:ln>
              <a:effectLst/>
            </c:spPr>
            <c:txPr>
              <a:bodyPr/>
              <a:lstStyle/>
              <a:p>
                <a:pPr>
                  <a:defRPr sz="1300" b="0" i="0" u="none" strike="noStrike">
                    <a:solidFill>
                      <a:srgbClr val="EFE5C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Distance-only benchmark</c:v>
                </c:pt>
                <c:pt idx="1">
                  <c:v>Ridge</c:v>
                </c:pt>
                <c:pt idx="2">
                  <c:v>Neural network / MLP</c:v>
                </c:pt>
              </c:strCache>
            </c:strRef>
          </c:cat>
          <c:val>
            <c:numRef>
              <c:f>Sheet1!$C$2:$C$4</c:f>
              <c:numCache>
                <c:formatCode>General</c:formatCode>
                <c:ptCount val="3"/>
                <c:pt idx="0">
                  <c:v>22.7</c:v>
                </c:pt>
                <c:pt idx="1">
                  <c:v>22.91</c:v>
                </c:pt>
                <c:pt idx="2">
                  <c:v>23.15</c:v>
                </c:pt>
              </c:numCache>
            </c:numRef>
          </c:val>
          <c:extLst>
            <c:ext xmlns:c16="http://schemas.microsoft.com/office/drawing/2014/chart" uri="{C3380CC4-5D6E-409C-BE32-E72D297353CC}">
              <c16:uniqueId val="{00000001-BF8E-4BAB-83AC-2995AC31DB59}"/>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EFE5CB"/>
                </a:solidFill>
                <a:latin typeface="+mn-lt"/>
              </a:defRPr>
            </a:pPr>
            <a:endParaRPr lang="en-US"/>
          </a:p>
        </c:txPr>
        <c:crossAx val="2094734552"/>
        <c:crosses val="autoZero"/>
        <c:auto val="1"/>
        <c:lblAlgn val="ctr"/>
        <c:lblOffset val="100"/>
        <c:noMultiLvlLbl val="1"/>
      </c:catAx>
      <c:valAx>
        <c:axId val="2094734552"/>
        <c:scaling>
          <c:orientation val="minMax"/>
          <c:max val="30"/>
          <c:min val="0"/>
        </c:scaling>
        <c:delete val="0"/>
        <c:axPos val="l"/>
        <c:majorGridlines>
          <c:spPr>
            <a:ln w="9525" cap="flat">
              <a:solidFill>
                <a:srgbClr val="4F6C5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9C4AE"/>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300">
              <a:solidFill>
                <a:srgbClr val="EFE5CB"/>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4787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course, the project title and the team. One-line summary: we tested whether machine learning can predict how differently two stations are oriented in the SAME earthquake, following the Poulos and Silva-Lopez paper, on a small subset of PEER NGA-West2 that we could download. Say up front that this is exploratory and that we report our limits honestly.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motion is not the same in every horizontal direction. At each site there is an orientation of strongest shaking. For two stations that recorded the same earthquake we want the absolute angle between those orientations, delta-theta, between 0 and 90 degrees. Why ML: the difference may depend on event and site properties, not only on distance, so we compare simple and flexible regression models. Task is adapted from the supplied paper.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supplied paper (Poulos and Silva-Lopez, Stanford Blume Earthquake Engineering Center). They used NGA-West2, kept magnitude 5 and above, paired every same-event station pair, and limited pairs to 5 km, leaving about 5,300 examples. Features were cut from 274 to 71 and finally 21 by backward and forward analysis. Test results on the right are THE PAPER'S, not ours. Point out that even the best model has R2 of only 0.354 and the network overfits (training R2 0.996).</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exact counts from the recorded run. We downloaded 100 unique RSNs; 93 were usable and matched to flatfile metadata. That gives 269 same-event pairs within 100 km across 9 events, but only 8 pairs from 5 events within the paper's 5 km rule. Be upfront: the subset is limited by PEER access and download limits and is not random. If you rerun with other records, regenerate the outputs.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1: read the .AT2 files for the two horizontal components. 2: pair near-orthogonal components. 3: estimate the orientation of maximum response using a 5 percent damped single-degree-of-freedom oscillator at a configurable 1 second period. 4: match the usable record to the NGA-West2 flatfile. 5: build same-earthquake station pairs and compute delta-theta in 0 to 90 degrees. The code is modular, one file per stage.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Orientation here is axial: a line has no direction, so 10 degrees and 190 degrees are the same orientation. Therefore the angle between two orientations is folded into 0 to 90 degrees. The drawing is an illustration with made-up angles (30 and 75 degrees give 45). Mention that the 1 second period and azimuth convention still need a line-by-line check against the paper, listed on the limitations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settings. Strict: the paper's 5 km rule gave 8 pairs, which is too few to split, so no model comparison is reported. Supplementary: 269 pairs within 100 km with a random 80/10/10 pair-level split, only to exercise the workflow and not paper-equivalent. Event-held-out: whole earthquakes are held out (53 training pairs from 6 events, 216 test pairs from 3 events), which is more conservative. Models: distance-only linear benchmark, ridge and an MLP; the event-held-out run also has a constant-median baseline.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metrics from the supplementary 100 km experiment with a random 80/10/10 pair-level split (269 pairs). Lower MAE and RMSE are better. R2 is negative for all three, which means each did worse than simply predicting the test-set mean. The gap between best and worst MAE is only 0.45 degrees. Stress that the MLP was selected from a validation grid, and that pairs sharing events or stations can land in both train and test, so these numbers are not event-generalisation results.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Event-held-out evaluation on the 269-pair 100 km set: 53 training pairs from 6 events, 216 test pairs from 3 events. Ridge is only 0.31 degrees of MAE better than the constant-median baseline, and the MLP is about 3.9 degrees worse. All R2 values are negative. The test set is dominated by few events, so treat this as an unstable exploratory result, not a robust claim.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bars: the paper's reported test MAE. Right bars: our supplementary 100 km random-split MAE. In the paper, MAE drops from 20.2 to 16.9 to 13.2 degrees as models get richer and R2 rises from 0.025 to 0.354. In ours, MAE stays near 23 degrees and R2 is negative for all models. This is NOT a like-for-like comparison: different pairing radius, far more pairs in the paper, and our features are not verified to match the paper's 21. Paper values are reference only.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reasons we think the models failed to beat the baselines. Three are directly from the data and setup: too few independent examples, dependent pairs, and features not matched to the paper. The third card is a hypothesis we have not tested: the paper's directional correlation is for stations within 5 km, and our 100 km pairs include far-apart sites. Say clearly which are facts and which is a hypothesis.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limits of the data and setup. Right: items we have not yet confirmed against the paper and the data. The azimuth convention in the AT2 file names, the 1 second period and the exact orientation-target implementation all need a line-by-line check. Close with the scope statement: exploratory, not a verified reproduction, and no claim for real-time prediction or engineering use.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takeaway first: the workflow is implemented, but our results do not show that machine learning improves directionality prediction on this limited dataset. Then the three conclusions and the future work. Future work follows the paper: a larger dataset, its feature selection, held-out earthquakes, and predicting mean and spread instead of a single value.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demo, open the Colab notebook and run the pipeline, then show orientations.csv, same_event_pairs.csv, summary.json and the plots in outputs. Mention that each run writes its own summary.json so results are traceable to the data used, and that raw PEER waveforms, flatfiles and credentials are never committed.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main takeaway: the pipeline works end to end, but on our small subset the data cannot show whether ML helps. Invite questions. Be ready for: why 8 pairs at 5 km, why event-held-out, what negative R2 means, and how the 1 second period and azimuth convention were handled.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2B392D"/>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822960"/>
            <a:ext cx="6766560" cy="365760"/>
          </a:xfrm>
          <a:prstGeom prst="rect">
            <a:avLst/>
          </a:prstGeom>
          <a:noFill/>
          <a:ln/>
        </p:spPr>
        <p:txBody>
          <a:bodyPr wrap="square" rtlCol="0"/>
          <a:lstStyle>
            <a:lvl1pPr marL="0" indent="0">
              <a:buNone/>
              <a:defRPr lang="en-US" sz="1300" b="1" dirty="0">
                <a:solidFill>
                  <a:schemeClr val="accent1"/>
                </a:solidFill>
              </a:defRPr>
            </a:lvl1pPr>
          </a:lstStyle>
          <a:p>
            <a:pPr marL="0" indent="0">
              <a:buNone/>
            </a:pPr>
            <a:endParaRPr lang="en-US" sz="1300" dirty="0"/>
          </a:p>
        </p:txBody>
      </p:sp>
      <p:sp>
        <p:nvSpPr>
          <p:cNvPr id="3" name="Text 0"/>
          <p:cNvSpPr>
            <a:spLocks noGrp="1"/>
          </p:cNvSpPr>
          <p:nvPr>
            <p:ph type="title" idx="101" hasCustomPrompt="1"/>
          </p:nvPr>
        </p:nvSpPr>
        <p:spPr>
          <a:xfrm>
            <a:off x="548640" y="1280160"/>
            <a:ext cx="6675120" cy="228600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4" name="Text 0"/>
          <p:cNvSpPr>
            <a:spLocks noGrp="1"/>
          </p:cNvSpPr>
          <p:nvPr>
            <p:ph type="body" idx="102" hasCustomPrompt="1"/>
          </p:nvPr>
        </p:nvSpPr>
        <p:spPr>
          <a:xfrm>
            <a:off x="548640" y="3749040"/>
            <a:ext cx="6400800" cy="822960"/>
          </a:xfrm>
          <a:prstGeom prst="rect">
            <a:avLst/>
          </a:prstGeom>
          <a:noFill/>
          <a:ln/>
        </p:spPr>
        <p:txBody>
          <a:bodyPr wrap="square" rtlCol="0"/>
          <a:lstStyle>
            <a:lvl1pPr marL="0" indent="0">
              <a:buNone/>
              <a:defRPr lang="en-US" sz="1800" dirty="0">
                <a:solidFill>
                  <a:schemeClr val="bg2"/>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2B392D"/>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320040"/>
          </a:xfrm>
          <a:prstGeom prst="rect">
            <a:avLst/>
          </a:prstGeom>
          <a:noFill/>
          <a:ln/>
        </p:spPr>
        <p:txBody>
          <a:bodyPr wrap="square" rtlCol="0"/>
          <a:lstStyle>
            <a:lvl1pPr marL="0" indent="0">
              <a:buNone/>
              <a:defRPr lang="en-US" sz="1300" b="1" dirty="0">
                <a:solidFill>
                  <a:schemeClr val="accent1"/>
                </a:solidFill>
              </a:defRPr>
            </a:lvl1pPr>
          </a:lstStyle>
          <a:p>
            <a:pPr marL="0" indent="0">
              <a:buNone/>
            </a:pPr>
            <a:endParaRPr lang="en-US" sz="1300" dirty="0"/>
          </a:p>
        </p:txBody>
      </p:sp>
      <p:sp>
        <p:nvSpPr>
          <p:cNvPr id="3" name="Text 0"/>
          <p:cNvSpPr>
            <a:spLocks noGrp="1"/>
          </p:cNvSpPr>
          <p:nvPr>
            <p:ph type="title" idx="101" hasCustomPrompt="1"/>
          </p:nvPr>
        </p:nvSpPr>
        <p:spPr>
          <a:xfrm>
            <a:off x="548640" y="658368"/>
            <a:ext cx="11091672" cy="96012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4"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1000" dirty="0">
                <a:solidFill>
                  <a:schemeClr val="accent2"/>
                </a:solidFill>
              </a:rPr>
              <a:t>UE24CS352A  ·  Machine Learning Mini-Project</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2B392D"/>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914400"/>
            <a:ext cx="6675120" cy="1188720"/>
          </a:xfrm>
          <a:prstGeom prst="rect">
            <a:avLst/>
          </a:prstGeom>
          <a:noFill/>
          <a:ln/>
        </p:spPr>
        <p:txBody>
          <a:bodyPr wrap="square" rtlCol="0"/>
          <a:lstStyle>
            <a:lvl1pPr marL="0" indent="0" algn="l">
              <a:buNone/>
              <a:defRPr lang="en-US" sz="5400" b="1" dirty="0">
                <a:solidFill>
                  <a:schemeClr val="bg1"/>
                </a:solidFill>
              </a:defRPr>
            </a:lvl1pPr>
          </a:lstStyle>
          <a:p>
            <a:pPr marL="0" indent="0" algn="l">
              <a:buNone/>
            </a:pPr>
            <a:endParaRPr lang="en-US" sz="54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1000" dirty="0">
                <a:solidFill>
                  <a:schemeClr val="accent2"/>
                </a:solidFill>
              </a:rPr>
              <a:t>UE24CS352A  ·  Machine Learning Mini-Project</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822960"/>
            <a:ext cx="6766560" cy="365760"/>
          </a:xfrm>
          <a:prstGeom prst="rect">
            <a:avLst/>
          </a:prstGeom>
          <a:noFill/>
          <a:ln/>
        </p:spPr>
        <p:txBody>
          <a:bodyPr wrap="square" lIns="0" tIns="0" rIns="0" bIns="0" rtlCol="0" anchor="t"/>
          <a:lstStyle/>
          <a:p>
            <a:pPr marL="0" indent="0">
              <a:buNone/>
            </a:pPr>
            <a:r>
              <a:rPr lang="en-US" sz="1300" b="1" dirty="0">
                <a:solidFill>
                  <a:schemeClr val="accent1"/>
                </a:solidFill>
              </a:rPr>
              <a:t>UE24CS352A  ·  MACHINE LEARNING  ·  MINI-PROJECT REVIEW</a:t>
            </a:r>
            <a:endParaRPr lang="en-US" sz="1300" dirty="0"/>
          </a:p>
        </p:txBody>
      </p:sp>
      <p:sp>
        <p:nvSpPr>
          <p:cNvPr id="3" name="Text 0"/>
          <p:cNvSpPr>
            <a:spLocks noGrp="1"/>
          </p:cNvSpPr>
          <p:nvPr>
            <p:ph type="title" idx="101" hasCustomPrompt="1"/>
          </p:nvPr>
        </p:nvSpPr>
        <p:spPr>
          <a:xfrm>
            <a:off x="548640" y="1280160"/>
            <a:ext cx="6675120" cy="2286000"/>
          </a:xfrm>
          <a:prstGeom prst="rect">
            <a:avLst/>
          </a:prstGeom>
          <a:noFill/>
          <a:ln/>
        </p:spPr>
        <p:txBody>
          <a:bodyPr wrap="square" lIns="0" tIns="0" rIns="0" bIns="0" rtlCol="0" anchor="t"/>
          <a:lstStyle/>
          <a:p>
            <a:pPr marL="0" indent="0" algn="l">
              <a:buNone/>
            </a:pPr>
            <a:r>
              <a:rPr lang="en-US" sz="4400" b="1" dirty="0">
                <a:solidFill>
                  <a:schemeClr val="bg1"/>
                </a:solidFill>
              </a:rPr>
              <a:t>Detecting and Predicting Earthquake Ground-Motion Directionality</a:t>
            </a:r>
            <a:endParaRPr lang="en-US" sz="4400" dirty="0"/>
          </a:p>
        </p:txBody>
      </p:sp>
      <p:sp>
        <p:nvSpPr>
          <p:cNvPr id="4" name="Text 0"/>
          <p:cNvSpPr>
            <a:spLocks noGrp="1"/>
          </p:cNvSpPr>
          <p:nvPr>
            <p:ph type="body" idx="102" hasCustomPrompt="1"/>
          </p:nvPr>
        </p:nvSpPr>
        <p:spPr>
          <a:xfrm>
            <a:off x="548640" y="3749040"/>
            <a:ext cx="6400800" cy="822960"/>
          </a:xfrm>
          <a:prstGeom prst="rect">
            <a:avLst/>
          </a:prstGeom>
          <a:noFill/>
          <a:ln/>
        </p:spPr>
        <p:txBody>
          <a:bodyPr wrap="square" lIns="0" tIns="0" rIns="0" bIns="0" rtlCol="0" anchor="t"/>
          <a:lstStyle/>
          <a:p>
            <a:pPr marL="0" indent="0">
              <a:buNone/>
            </a:pPr>
            <a:r>
              <a:rPr lang="en-US" sz="1800" dirty="0">
                <a:solidFill>
                  <a:schemeClr val="bg2"/>
                </a:solidFill>
              </a:rPr>
              <a:t>A paper-informed, exploratory machine-learning study on PEER NGA-West2 accelerograms</a:t>
            </a:r>
            <a:endParaRPr lang="en-US" sz="1800" dirty="0"/>
          </a:p>
        </p:txBody>
      </p:sp>
      <p:sp>
        <p:nvSpPr>
          <p:cNvPr id="5" name="team"/>
          <p:cNvSpPr txBox="1"/>
          <p:nvPr/>
        </p:nvSpPr>
        <p:spPr>
          <a:xfrm>
            <a:off x="548640" y="5029200"/>
            <a:ext cx="6400800" cy="1005840"/>
          </a:xfrm>
          <a:prstGeom prst="rect">
            <a:avLst/>
          </a:prstGeom>
          <a:noFill/>
          <a:ln/>
        </p:spPr>
        <p:txBody>
          <a:bodyPr wrap="square" lIns="0" tIns="0" rIns="0" bIns="0" rtlCol="0" anchor="t"/>
          <a:lstStyle/>
          <a:p>
            <a:pPr marL="0" indent="0">
              <a:spcAft>
                <a:spcPts val="400"/>
              </a:spcAft>
              <a:buNone/>
            </a:pPr>
            <a:r>
              <a:rPr lang="en-US" sz="1500" b="1" dirty="0">
                <a:solidFill>
                  <a:schemeClr val="bg2"/>
                </a:solidFill>
              </a:rPr>
              <a:t>Harshitha B.T  ·  PES1UG24AM118</a:t>
            </a:r>
            <a:endParaRPr lang="en-US" sz="1500" dirty="0"/>
          </a:p>
          <a:p>
            <a:pPr marL="0" indent="0">
              <a:spcAft>
                <a:spcPts val="400"/>
              </a:spcAft>
              <a:buNone/>
            </a:pPr>
            <a:r>
              <a:rPr lang="en-US" sz="1500" dirty="0">
                <a:solidFill>
                  <a:srgbClr val="A9C4AE"/>
                </a:solidFill>
              </a:rPr>
              <a:t>AIML Section B  ·  13 October 2026</a:t>
            </a:r>
            <a:endParaRPr lang="en-US" sz="1500" dirty="0"/>
          </a:p>
        </p:txBody>
      </p:sp>
      <p:sp>
        <p:nvSpPr>
          <p:cNvPr id="6" name="ring0"/>
          <p:cNvSpPr/>
          <p:nvPr/>
        </p:nvSpPr>
        <p:spPr>
          <a:xfrm>
            <a:off x="7040880" y="1280160"/>
            <a:ext cx="4572000" cy="4572000"/>
          </a:xfrm>
          <a:prstGeom prst="ellipse">
            <a:avLst/>
          </a:prstGeom>
          <a:ln w="19050">
            <a:solidFill>
              <a:schemeClr val="accent4"/>
            </a:solidFill>
            <a:prstDash val="solid"/>
          </a:ln>
        </p:spPr>
      </p:sp>
      <p:sp>
        <p:nvSpPr>
          <p:cNvPr id="7" name="ring1"/>
          <p:cNvSpPr/>
          <p:nvPr/>
        </p:nvSpPr>
        <p:spPr>
          <a:xfrm>
            <a:off x="7772400" y="2011680"/>
            <a:ext cx="3108960" cy="3108960"/>
          </a:xfrm>
          <a:prstGeom prst="ellipse">
            <a:avLst/>
          </a:prstGeom>
          <a:ln w="19050">
            <a:solidFill>
              <a:schemeClr val="accent4"/>
            </a:solidFill>
            <a:prstDash val="solid"/>
          </a:ln>
        </p:spPr>
      </p:sp>
      <p:sp>
        <p:nvSpPr>
          <p:cNvPr id="8" name="ring2"/>
          <p:cNvSpPr/>
          <p:nvPr/>
        </p:nvSpPr>
        <p:spPr>
          <a:xfrm>
            <a:off x="8503920" y="2743200"/>
            <a:ext cx="1645920" cy="1645920"/>
          </a:xfrm>
          <a:prstGeom prst="ellipse">
            <a:avLst/>
          </a:prstGeom>
          <a:ln w="19050">
            <a:solidFill>
              <a:schemeClr val="accent4"/>
            </a:solidFill>
            <a:prstDash val="solid"/>
          </a:ln>
        </p:spPr>
      </p:sp>
      <p:sp>
        <p:nvSpPr>
          <p:cNvPr id="9" name="xhair-h"/>
          <p:cNvSpPr/>
          <p:nvPr/>
        </p:nvSpPr>
        <p:spPr>
          <a:xfrm>
            <a:off x="6858000" y="3566160"/>
            <a:ext cx="4937760" cy="0"/>
          </a:xfrm>
          <a:prstGeom prst="line">
            <a:avLst/>
          </a:prstGeom>
          <a:noFill/>
          <a:ln w="12700">
            <a:solidFill>
              <a:srgbClr val="4F6C57"/>
            </a:solidFill>
            <a:prstDash val="dash"/>
          </a:ln>
        </p:spPr>
      </p:sp>
      <p:sp>
        <p:nvSpPr>
          <p:cNvPr id="10" name="xhair-v"/>
          <p:cNvSpPr/>
          <p:nvPr/>
        </p:nvSpPr>
        <p:spPr>
          <a:xfrm>
            <a:off x="9326880" y="1097280"/>
            <a:ext cx="0" cy="4937760"/>
          </a:xfrm>
          <a:prstGeom prst="line">
            <a:avLst/>
          </a:prstGeom>
          <a:noFill/>
          <a:ln w="12700">
            <a:solidFill>
              <a:srgbClr val="4F6C57"/>
            </a:solidFill>
            <a:prstDash val="dash"/>
          </a:ln>
        </p:spPr>
      </p:sp>
      <p:sp>
        <p:nvSpPr>
          <p:cNvPr id="11" name="title-rose-ref"/>
          <p:cNvSpPr/>
          <p:nvPr/>
        </p:nvSpPr>
        <p:spPr>
          <a:xfrm>
            <a:off x="9326880" y="3566160"/>
            <a:ext cx="2194560" cy="0"/>
          </a:xfrm>
          <a:prstGeom prst="line">
            <a:avLst/>
          </a:prstGeom>
          <a:noFill/>
          <a:ln w="19050">
            <a:solidFill>
              <a:srgbClr val="A9C4AE"/>
            </a:solidFill>
            <a:prstDash val="dash"/>
          </a:ln>
        </p:spPr>
      </p:sp>
      <p:sp>
        <p:nvSpPr>
          <p:cNvPr id="12" name="title-rose-axisA"/>
          <p:cNvSpPr/>
          <p:nvPr/>
        </p:nvSpPr>
        <p:spPr>
          <a:xfrm flipV="1">
            <a:off x="8693365" y="2542032"/>
            <a:ext cx="2407357" cy="1389888"/>
          </a:xfrm>
          <a:prstGeom prst="line">
            <a:avLst/>
          </a:prstGeom>
          <a:noFill/>
          <a:ln w="50800">
            <a:solidFill>
              <a:srgbClr val="F08A4B"/>
            </a:solidFill>
            <a:prstDash val="solid"/>
          </a:ln>
        </p:spPr>
      </p:sp>
      <p:sp>
        <p:nvSpPr>
          <p:cNvPr id="13" name="title-rose-axisB"/>
          <p:cNvSpPr/>
          <p:nvPr/>
        </p:nvSpPr>
        <p:spPr>
          <a:xfrm flipV="1">
            <a:off x="9137549" y="1940994"/>
            <a:ext cx="624793" cy="2331760"/>
          </a:xfrm>
          <a:prstGeom prst="line">
            <a:avLst/>
          </a:prstGeom>
          <a:noFill/>
          <a:ln w="50800">
            <a:solidFill>
              <a:srgbClr val="EFE5CB"/>
            </a:solidFill>
            <a:prstDash val="solid"/>
          </a:ln>
        </p:spPr>
      </p:sp>
      <p:sp>
        <p:nvSpPr>
          <p:cNvPr id="14" name="title-rose-arc0"/>
          <p:cNvSpPr/>
          <p:nvPr/>
        </p:nvSpPr>
        <p:spPr>
          <a:xfrm>
            <a:off x="10030691" y="3105348"/>
            <a:ext cx="24731" cy="40188"/>
          </a:xfrm>
          <a:prstGeom prst="line">
            <a:avLst/>
          </a:prstGeom>
          <a:noFill/>
          <a:ln w="31750">
            <a:solidFill>
              <a:srgbClr val="A9C4AE"/>
            </a:solidFill>
            <a:prstDash val="solid"/>
          </a:ln>
        </p:spPr>
      </p:sp>
      <p:sp>
        <p:nvSpPr>
          <p:cNvPr id="15" name="title-rose-arc1"/>
          <p:cNvSpPr/>
          <p:nvPr/>
        </p:nvSpPr>
        <p:spPr>
          <a:xfrm>
            <a:off x="10003746" y="3066610"/>
            <a:ext cx="26945" cy="38738"/>
          </a:xfrm>
          <a:prstGeom prst="line">
            <a:avLst/>
          </a:prstGeom>
          <a:noFill/>
          <a:ln w="31750">
            <a:solidFill>
              <a:srgbClr val="A9C4AE"/>
            </a:solidFill>
            <a:prstDash val="solid"/>
          </a:ln>
        </p:spPr>
      </p:sp>
      <p:sp>
        <p:nvSpPr>
          <p:cNvPr id="16" name="title-rose-arc2"/>
          <p:cNvSpPr/>
          <p:nvPr/>
        </p:nvSpPr>
        <p:spPr>
          <a:xfrm>
            <a:off x="9974671" y="3029444"/>
            <a:ext cx="29075" cy="37166"/>
          </a:xfrm>
          <a:prstGeom prst="line">
            <a:avLst/>
          </a:prstGeom>
          <a:noFill/>
          <a:ln w="31750">
            <a:solidFill>
              <a:srgbClr val="A9C4AE"/>
            </a:solidFill>
            <a:prstDash val="solid"/>
          </a:ln>
        </p:spPr>
      </p:sp>
      <p:sp>
        <p:nvSpPr>
          <p:cNvPr id="17" name="title-rose-arc3"/>
          <p:cNvSpPr/>
          <p:nvPr/>
        </p:nvSpPr>
        <p:spPr>
          <a:xfrm>
            <a:off x="9943558" y="2993966"/>
            <a:ext cx="31113" cy="35478"/>
          </a:xfrm>
          <a:prstGeom prst="line">
            <a:avLst/>
          </a:prstGeom>
          <a:noFill/>
          <a:ln w="31750">
            <a:solidFill>
              <a:srgbClr val="A9C4AE"/>
            </a:solidFill>
            <a:prstDash val="solid"/>
          </a:ln>
        </p:spPr>
      </p:sp>
      <p:sp>
        <p:nvSpPr>
          <p:cNvPr id="18" name="title-rose-arc4"/>
          <p:cNvSpPr/>
          <p:nvPr/>
        </p:nvSpPr>
        <p:spPr>
          <a:xfrm>
            <a:off x="9910505" y="2960289"/>
            <a:ext cx="33053" cy="33677"/>
          </a:xfrm>
          <a:prstGeom prst="line">
            <a:avLst/>
          </a:prstGeom>
          <a:noFill/>
          <a:ln w="31750">
            <a:solidFill>
              <a:srgbClr val="A9C4AE"/>
            </a:solidFill>
            <a:prstDash val="solid"/>
          </a:ln>
        </p:spPr>
      </p:sp>
      <p:sp>
        <p:nvSpPr>
          <p:cNvPr id="19" name="title-rose-arc5"/>
          <p:cNvSpPr/>
          <p:nvPr/>
        </p:nvSpPr>
        <p:spPr>
          <a:xfrm>
            <a:off x="9875615" y="2928518"/>
            <a:ext cx="34890" cy="31771"/>
          </a:xfrm>
          <a:prstGeom prst="line">
            <a:avLst/>
          </a:prstGeom>
          <a:noFill/>
          <a:ln w="31750">
            <a:solidFill>
              <a:srgbClr val="A9C4AE"/>
            </a:solidFill>
            <a:prstDash val="solid"/>
          </a:ln>
        </p:spPr>
      </p:sp>
      <p:sp>
        <p:nvSpPr>
          <p:cNvPr id="20" name="title-rose-arc6"/>
          <p:cNvSpPr/>
          <p:nvPr/>
        </p:nvSpPr>
        <p:spPr>
          <a:xfrm>
            <a:off x="9838999" y="2898753"/>
            <a:ext cx="36616" cy="29765"/>
          </a:xfrm>
          <a:prstGeom prst="line">
            <a:avLst/>
          </a:prstGeom>
          <a:noFill/>
          <a:ln w="31750">
            <a:solidFill>
              <a:srgbClr val="A9C4AE"/>
            </a:solidFill>
            <a:prstDash val="solid"/>
          </a:ln>
        </p:spPr>
      </p:sp>
      <p:sp>
        <p:nvSpPr>
          <p:cNvPr id="21" name="title-rose-arc7"/>
          <p:cNvSpPr/>
          <p:nvPr/>
        </p:nvSpPr>
        <p:spPr>
          <a:xfrm>
            <a:off x="9800772" y="2871088"/>
            <a:ext cx="38227" cy="27665"/>
          </a:xfrm>
          <a:prstGeom prst="line">
            <a:avLst/>
          </a:prstGeom>
          <a:noFill/>
          <a:ln w="31750">
            <a:solidFill>
              <a:srgbClr val="A9C4AE"/>
            </a:solidFill>
            <a:prstDash val="solid"/>
          </a:ln>
        </p:spPr>
      </p:sp>
      <p:sp>
        <p:nvSpPr>
          <p:cNvPr id="22" name="title-rose-arc8"/>
          <p:cNvSpPr/>
          <p:nvPr/>
        </p:nvSpPr>
        <p:spPr>
          <a:xfrm>
            <a:off x="9761053" y="2845610"/>
            <a:ext cx="39719" cy="25478"/>
          </a:xfrm>
          <a:prstGeom prst="line">
            <a:avLst/>
          </a:prstGeom>
          <a:noFill/>
          <a:ln w="31750">
            <a:solidFill>
              <a:srgbClr val="A9C4AE"/>
            </a:solidFill>
            <a:prstDash val="solid"/>
          </a:ln>
        </p:spPr>
      </p:sp>
      <p:sp>
        <p:nvSpPr>
          <p:cNvPr id="23" name="title-rose-arc9"/>
          <p:cNvSpPr/>
          <p:nvPr/>
        </p:nvSpPr>
        <p:spPr>
          <a:xfrm>
            <a:off x="9719969" y="2822400"/>
            <a:ext cx="41085" cy="23211"/>
          </a:xfrm>
          <a:prstGeom prst="line">
            <a:avLst/>
          </a:prstGeom>
          <a:noFill/>
          <a:ln w="31750">
            <a:solidFill>
              <a:srgbClr val="A9C4AE"/>
            </a:solidFill>
            <a:prstDash val="solid"/>
          </a:ln>
        </p:spPr>
      </p:sp>
      <p:sp>
        <p:nvSpPr>
          <p:cNvPr id="24" name="title-rose-arc10"/>
          <p:cNvSpPr/>
          <p:nvPr/>
        </p:nvSpPr>
        <p:spPr>
          <a:xfrm>
            <a:off x="9677647" y="2801529"/>
            <a:ext cx="42321" cy="20871"/>
          </a:xfrm>
          <a:prstGeom prst="line">
            <a:avLst/>
          </a:prstGeom>
          <a:noFill/>
          <a:ln w="31750">
            <a:solidFill>
              <a:srgbClr val="A9C4AE"/>
            </a:solidFill>
            <a:prstDash val="solid"/>
          </a:ln>
        </p:spPr>
      </p:sp>
      <p:sp>
        <p:nvSpPr>
          <p:cNvPr id="25" name="title-rose-arc11"/>
          <p:cNvSpPr/>
          <p:nvPr/>
        </p:nvSpPr>
        <p:spPr>
          <a:xfrm>
            <a:off x="9634222" y="2783064"/>
            <a:ext cx="43425" cy="18465"/>
          </a:xfrm>
          <a:prstGeom prst="line">
            <a:avLst/>
          </a:prstGeom>
          <a:noFill/>
          <a:ln w="31750">
            <a:solidFill>
              <a:srgbClr val="A9C4AE"/>
            </a:solidFill>
            <a:prstDash val="solid"/>
          </a:ln>
        </p:spPr>
      </p:sp>
      <p:sp>
        <p:nvSpPr>
          <p:cNvPr id="26" name="title-rose-arc12"/>
          <p:cNvSpPr/>
          <p:nvPr/>
        </p:nvSpPr>
        <p:spPr>
          <a:xfrm>
            <a:off x="9589830" y="2767063"/>
            <a:ext cx="44392" cy="16001"/>
          </a:xfrm>
          <a:prstGeom prst="line">
            <a:avLst/>
          </a:prstGeom>
          <a:noFill/>
          <a:ln w="31750">
            <a:solidFill>
              <a:srgbClr val="A9C4AE"/>
            </a:solidFill>
            <a:prstDash val="solid"/>
          </a:ln>
        </p:spPr>
      </p:sp>
      <p:sp>
        <p:nvSpPr>
          <p:cNvPr id="27" name="title-rose-arc13"/>
          <p:cNvSpPr/>
          <p:nvPr/>
        </p:nvSpPr>
        <p:spPr>
          <a:xfrm>
            <a:off x="9544611" y="2753577"/>
            <a:ext cx="45219" cy="13487"/>
          </a:xfrm>
          <a:prstGeom prst="line">
            <a:avLst/>
          </a:prstGeom>
          <a:noFill/>
          <a:ln w="31750">
            <a:solidFill>
              <a:srgbClr val="A9C4AE"/>
            </a:solidFill>
            <a:prstDash val="solid"/>
          </a:ln>
        </p:spPr>
      </p:sp>
      <p:sp>
        <p:nvSpPr>
          <p:cNvPr id="28" name="title-rose-origin"/>
          <p:cNvSpPr/>
          <p:nvPr/>
        </p:nvSpPr>
        <p:spPr>
          <a:xfrm>
            <a:off x="9244584" y="3483864"/>
            <a:ext cx="164592" cy="164592"/>
          </a:xfrm>
          <a:prstGeom prst="ellipse">
            <a:avLst/>
          </a:prstGeom>
          <a:solidFill>
            <a:srgbClr val="A9C4AE"/>
          </a:solidFill>
          <a:ln w="12700">
            <a:solidFill>
              <a:srgbClr val="A9C4AE"/>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320040"/>
          </a:xfrm>
          <a:prstGeom prst="rect">
            <a:avLst/>
          </a:prstGeom>
          <a:noFill/>
          <a:ln/>
        </p:spPr>
        <p:txBody>
          <a:bodyPr wrap="square" lIns="0" tIns="0" rIns="0" bIns="0" rtlCol="0" anchor="t"/>
          <a:lstStyle/>
          <a:p>
            <a:pPr marL="0" indent="0">
              <a:buNone/>
            </a:pPr>
            <a:r>
              <a:rPr lang="en-US" sz="1300" b="1" dirty="0">
                <a:solidFill>
                  <a:schemeClr val="accent1"/>
                </a:solidFill>
              </a:rPr>
              <a:t>01  ·  PROBLEM</a:t>
            </a:r>
            <a:endParaRPr lang="en-US" sz="1300" dirty="0"/>
          </a:p>
        </p:txBody>
      </p:sp>
      <p:sp>
        <p:nvSpPr>
          <p:cNvPr id="3" name="Text 0"/>
          <p:cNvSpPr>
            <a:spLocks noGrp="1"/>
          </p:cNvSpPr>
          <p:nvPr>
            <p:ph type="title" idx="101" hasCustomPrompt="1"/>
          </p:nvPr>
        </p:nvSpPr>
        <p:spPr>
          <a:xfrm>
            <a:off x="548640" y="658368"/>
            <a:ext cx="11091672" cy="960120"/>
          </a:xfrm>
          <a:prstGeom prst="rect">
            <a:avLst/>
          </a:prstGeom>
          <a:noFill/>
          <a:ln/>
        </p:spPr>
        <p:txBody>
          <a:bodyPr wrap="square" lIns="0" tIns="0" rIns="0" bIns="0" rtlCol="0" anchor="t"/>
          <a:lstStyle/>
          <a:p>
            <a:pPr marL="0" indent="0" algn="l">
              <a:buNone/>
            </a:pPr>
            <a:r>
              <a:rPr lang="en-US" sz="3200" b="1" dirty="0">
                <a:solidFill>
                  <a:schemeClr val="bg1"/>
                </a:solidFill>
              </a:rPr>
              <a:t>Shaking has a strongest direction that varies by site</a:t>
            </a:r>
            <a:endParaRPr lang="en-US" sz="3200" dirty="0"/>
          </a:p>
        </p:txBody>
      </p:sp>
      <p:sp>
        <p:nvSpPr>
          <p:cNvPr id="5" name="problem-card"/>
          <p:cNvSpPr txBox="1"/>
          <p:nvPr/>
        </p:nvSpPr>
        <p:spPr>
          <a:xfrm>
            <a:off x="548640" y="1828800"/>
            <a:ext cx="5440680" cy="1691640"/>
          </a:xfrm>
          <a:prstGeom prst="roundRect">
            <a:avLst>
              <a:gd name="adj" fmla="val 5405"/>
            </a:avLst>
          </a:prstGeom>
          <a:solidFill>
            <a:schemeClr val="bg2"/>
          </a:solidFill>
          <a:ln/>
        </p:spPr>
        <p:txBody>
          <a:bodyPr wrap="square" lIns="177800" tIns="177800" rIns="177800" bIns="177800" rtlCol="0" anchor="t"/>
          <a:lstStyle/>
          <a:p>
            <a:pPr marL="0" indent="0">
              <a:spcAft>
                <a:spcPts val="400"/>
              </a:spcAft>
              <a:buNone/>
            </a:pPr>
            <a:r>
              <a:rPr lang="en-US" sz="1300" b="1" dirty="0">
                <a:solidFill>
                  <a:schemeClr val="accent5"/>
                </a:solidFill>
              </a:rPr>
              <a:t>THE PROBLEM</a:t>
            </a:r>
            <a:endParaRPr lang="en-US" sz="1500" dirty="0"/>
          </a:p>
          <a:p>
            <a:pPr marL="0" indent="0">
              <a:spcAft>
                <a:spcPts val="400"/>
              </a:spcAft>
              <a:buNone/>
            </a:pPr>
            <a:r>
              <a:rPr lang="en-US" sz="1700" dirty="0">
                <a:solidFill>
                  <a:schemeClr val="tx1"/>
                </a:solidFill>
              </a:rPr>
              <a:t>Ground-motion directionality describes how the orientation of strongest shaking varies between recording sites during the same earthquake.</a:t>
            </a:r>
            <a:endParaRPr lang="en-US" sz="1500" dirty="0"/>
          </a:p>
        </p:txBody>
      </p:sp>
      <p:sp>
        <p:nvSpPr>
          <p:cNvPr id="6" name="target-card"/>
          <p:cNvSpPr txBox="1"/>
          <p:nvPr/>
        </p:nvSpPr>
        <p:spPr>
          <a:xfrm>
            <a:off x="6199632" y="1828800"/>
            <a:ext cx="5440680" cy="1691640"/>
          </a:xfrm>
          <a:prstGeom prst="roundRect">
            <a:avLst>
              <a:gd name="adj" fmla="val 5405"/>
            </a:avLst>
          </a:prstGeom>
          <a:solidFill>
            <a:schemeClr val="bg2"/>
          </a:solidFill>
          <a:ln/>
        </p:spPr>
        <p:txBody>
          <a:bodyPr wrap="square" lIns="177800" tIns="177800" rIns="177800" bIns="177800" rtlCol="0" anchor="t"/>
          <a:lstStyle/>
          <a:p>
            <a:pPr marL="0" indent="0">
              <a:spcAft>
                <a:spcPts val="400"/>
              </a:spcAft>
              <a:buNone/>
            </a:pPr>
            <a:r>
              <a:rPr lang="en-US" sz="1300" b="1" dirty="0">
                <a:solidFill>
                  <a:schemeClr val="accent5"/>
                </a:solidFill>
              </a:rPr>
              <a:t>PREDICTION TARGET</a:t>
            </a:r>
            <a:endParaRPr lang="en-US" sz="1500" dirty="0"/>
          </a:p>
          <a:p>
            <a:pPr marL="0" indent="0">
              <a:spcAft>
                <a:spcPts val="400"/>
              </a:spcAft>
              <a:buNone/>
            </a:pPr>
            <a:r>
              <a:rPr lang="en-US" sz="1700" dirty="0">
                <a:solidFill>
                  <a:schemeClr val="tx1"/>
                </a:solidFill>
              </a:rPr>
              <a:t>For a pair of stations that recorded the same earthquake, predict the absolute angular difference Δθ (0°–90°) between their orientations of maximum ground-motion intensity.</a:t>
            </a:r>
            <a:endParaRPr lang="en-US" sz="1500" dirty="0"/>
          </a:p>
        </p:txBody>
      </p:sp>
      <p:sp>
        <p:nvSpPr>
          <p:cNvPr id="7" name="why-ml-head"/>
          <p:cNvSpPr txBox="1"/>
          <p:nvPr/>
        </p:nvSpPr>
        <p:spPr>
          <a:xfrm>
            <a:off x="548640" y="3840480"/>
            <a:ext cx="10972800" cy="365760"/>
          </a:xfrm>
          <a:prstGeom prst="rect">
            <a:avLst/>
          </a:prstGeom>
          <a:noFill/>
          <a:ln/>
        </p:spPr>
        <p:txBody>
          <a:bodyPr wrap="square" lIns="0" tIns="0" rIns="0" bIns="0" rtlCol="0" anchor="t"/>
          <a:lstStyle/>
          <a:p>
            <a:pPr marL="0" indent="0">
              <a:buNone/>
            </a:pPr>
            <a:r>
              <a:rPr lang="en-US" sz="2000" b="1" dirty="0">
                <a:solidFill>
                  <a:schemeClr val="accent1"/>
                </a:solidFill>
              </a:rPr>
              <a:t>Why investigate it with machine learning?</a:t>
            </a:r>
            <a:endParaRPr lang="en-US" sz="2000" dirty="0"/>
          </a:p>
        </p:txBody>
      </p:sp>
      <p:sp>
        <p:nvSpPr>
          <p:cNvPr id="8" name="why-icon0-bg"/>
          <p:cNvSpPr/>
          <p:nvPr/>
        </p:nvSpPr>
        <p:spPr>
          <a:xfrm>
            <a:off x="548640" y="4526280"/>
            <a:ext cx="822960" cy="822960"/>
          </a:xfrm>
          <a:prstGeom prst="ellipse">
            <a:avLst/>
          </a:prstGeom>
          <a:solidFill>
            <a:srgbClr val="F08A4B"/>
          </a:solidFill>
          <a:ln w="12700">
            <a:solidFill>
              <a:srgbClr val="F08A4B"/>
            </a:solidFill>
            <a:prstDash val="solid"/>
          </a:ln>
        </p:spPr>
      </p:sp>
      <p:pic>
        <p:nvPicPr>
          <p:cNvPr id="9" name="why-icon0" descr="why-icon0"/>
          <p:cNvPicPr>
            <a:picLocks noChangeAspect="1"/>
          </p:cNvPicPr>
          <p:nvPr/>
        </p:nvPicPr>
        <p:blipFill>
          <a:blip r:embed="rId3"/>
          <a:stretch>
            <a:fillRect/>
          </a:stretch>
        </p:blipFill>
        <p:spPr>
          <a:xfrm>
            <a:off x="754380" y="4732020"/>
            <a:ext cx="411480" cy="411480"/>
          </a:xfrm>
          <a:prstGeom prst="rect">
            <a:avLst/>
          </a:prstGeom>
        </p:spPr>
      </p:pic>
      <p:sp>
        <p:nvSpPr>
          <p:cNvPr id="10" name="why-text0"/>
          <p:cNvSpPr txBox="1"/>
          <p:nvPr/>
        </p:nvSpPr>
        <p:spPr>
          <a:xfrm>
            <a:off x="1554480" y="4480560"/>
            <a:ext cx="2514600" cy="914400"/>
          </a:xfrm>
          <a:prstGeom prst="rect">
            <a:avLst/>
          </a:prstGeom>
          <a:noFill/>
          <a:ln/>
        </p:spPr>
        <p:txBody>
          <a:bodyPr wrap="square" lIns="0" tIns="0" rIns="0" bIns="0" rtlCol="0" anchor="ctr"/>
          <a:lstStyle/>
          <a:p>
            <a:pPr marL="0" indent="0">
              <a:buNone/>
            </a:pPr>
            <a:r>
              <a:rPr lang="en-US" sz="1500" dirty="0">
                <a:solidFill>
                  <a:schemeClr val="bg2"/>
                </a:solidFill>
              </a:rPr>
              <a:t>Directionality can depend on event and site characteristics, not distance alone</a:t>
            </a:r>
            <a:endParaRPr lang="en-US" sz="1500" dirty="0"/>
          </a:p>
        </p:txBody>
      </p:sp>
      <p:sp>
        <p:nvSpPr>
          <p:cNvPr id="11" name="why-icon1-bg"/>
          <p:cNvSpPr/>
          <p:nvPr/>
        </p:nvSpPr>
        <p:spPr>
          <a:xfrm>
            <a:off x="4297680" y="4526280"/>
            <a:ext cx="822960" cy="822960"/>
          </a:xfrm>
          <a:prstGeom prst="ellipse">
            <a:avLst/>
          </a:prstGeom>
          <a:solidFill>
            <a:srgbClr val="F08A4B"/>
          </a:solidFill>
          <a:ln w="12700">
            <a:solidFill>
              <a:srgbClr val="F08A4B"/>
            </a:solidFill>
            <a:prstDash val="solid"/>
          </a:ln>
        </p:spPr>
      </p:sp>
      <p:pic>
        <p:nvPicPr>
          <p:cNvPr id="12" name="why-icon1" descr="why-icon1"/>
          <p:cNvPicPr>
            <a:picLocks noChangeAspect="1"/>
          </p:cNvPicPr>
          <p:nvPr/>
        </p:nvPicPr>
        <p:blipFill>
          <a:blip r:embed="rId4"/>
          <a:stretch>
            <a:fillRect/>
          </a:stretch>
        </p:blipFill>
        <p:spPr>
          <a:xfrm>
            <a:off x="4503420" y="4732020"/>
            <a:ext cx="411480" cy="411480"/>
          </a:xfrm>
          <a:prstGeom prst="rect">
            <a:avLst/>
          </a:prstGeom>
        </p:spPr>
      </p:pic>
      <p:sp>
        <p:nvSpPr>
          <p:cNvPr id="13" name="why-text1"/>
          <p:cNvSpPr txBox="1"/>
          <p:nvPr/>
        </p:nvSpPr>
        <p:spPr>
          <a:xfrm>
            <a:off x="5303520" y="4480560"/>
            <a:ext cx="2514600" cy="914400"/>
          </a:xfrm>
          <a:prstGeom prst="rect">
            <a:avLst/>
          </a:prstGeom>
          <a:noFill/>
          <a:ln/>
        </p:spPr>
        <p:txBody>
          <a:bodyPr wrap="square" lIns="0" tIns="0" rIns="0" bIns="0" rtlCol="0" anchor="ctr"/>
          <a:lstStyle/>
          <a:p>
            <a:pPr marL="0" indent="0">
              <a:buNone/>
            </a:pPr>
            <a:r>
              <a:rPr lang="en-US" sz="1500" dirty="0">
                <a:solidFill>
                  <a:schemeClr val="bg2"/>
                </a:solidFill>
              </a:rPr>
              <a:t>Nearby stations can still differ strongly during the same earthquake</a:t>
            </a:r>
            <a:endParaRPr lang="en-US" sz="1500" dirty="0"/>
          </a:p>
        </p:txBody>
      </p:sp>
      <p:sp>
        <p:nvSpPr>
          <p:cNvPr id="14" name="why-icon2-bg"/>
          <p:cNvSpPr/>
          <p:nvPr/>
        </p:nvSpPr>
        <p:spPr>
          <a:xfrm>
            <a:off x="8046720" y="4526280"/>
            <a:ext cx="822960" cy="822960"/>
          </a:xfrm>
          <a:prstGeom prst="ellipse">
            <a:avLst/>
          </a:prstGeom>
          <a:solidFill>
            <a:srgbClr val="F08A4B"/>
          </a:solidFill>
          <a:ln w="12700">
            <a:solidFill>
              <a:srgbClr val="F08A4B"/>
            </a:solidFill>
            <a:prstDash val="solid"/>
          </a:ln>
        </p:spPr>
      </p:sp>
      <p:pic>
        <p:nvPicPr>
          <p:cNvPr id="15" name="why-icon2" descr="why-icon2"/>
          <p:cNvPicPr>
            <a:picLocks noChangeAspect="1"/>
          </p:cNvPicPr>
          <p:nvPr/>
        </p:nvPicPr>
        <p:blipFill>
          <a:blip r:embed="rId5"/>
          <a:stretch>
            <a:fillRect/>
          </a:stretch>
        </p:blipFill>
        <p:spPr>
          <a:xfrm>
            <a:off x="8252460" y="4732020"/>
            <a:ext cx="411480" cy="411480"/>
          </a:xfrm>
          <a:prstGeom prst="rect">
            <a:avLst/>
          </a:prstGeom>
        </p:spPr>
      </p:pic>
      <p:sp>
        <p:nvSpPr>
          <p:cNvPr id="16" name="why-text2"/>
          <p:cNvSpPr txBox="1"/>
          <p:nvPr/>
        </p:nvSpPr>
        <p:spPr>
          <a:xfrm>
            <a:off x="9052560" y="4480560"/>
            <a:ext cx="2514600" cy="914400"/>
          </a:xfrm>
          <a:prstGeom prst="rect">
            <a:avLst/>
          </a:prstGeom>
          <a:noFill/>
          <a:ln/>
        </p:spPr>
        <p:txBody>
          <a:bodyPr wrap="square" lIns="0" tIns="0" rIns="0" bIns="0" rtlCol="0" anchor="ctr"/>
          <a:lstStyle/>
          <a:p>
            <a:pPr marL="0" indent="0">
              <a:buNone/>
            </a:pPr>
            <a:r>
              <a:rPr lang="en-US" sz="1500" dirty="0">
                <a:solidFill>
                  <a:schemeClr val="bg2"/>
                </a:solidFill>
              </a:rPr>
              <a:t>We test whether metadata explain Δθ by comparing three regression models</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320040"/>
          </a:xfrm>
          <a:prstGeom prst="rect">
            <a:avLst/>
          </a:prstGeom>
          <a:noFill/>
          <a:ln/>
        </p:spPr>
        <p:txBody>
          <a:bodyPr wrap="square" lIns="0" tIns="0" rIns="0" bIns="0" rtlCol="0" anchor="t"/>
          <a:lstStyle/>
          <a:p>
            <a:pPr marL="0" indent="0">
              <a:buNone/>
            </a:pPr>
            <a:r>
              <a:rPr lang="en-US" sz="1300" b="1" dirty="0">
                <a:solidFill>
                  <a:schemeClr val="accent1"/>
                </a:solidFill>
              </a:rPr>
              <a:t>02  ·  REFERENCE PAPER</a:t>
            </a:r>
            <a:endParaRPr lang="en-US" sz="1300" dirty="0"/>
          </a:p>
        </p:txBody>
      </p:sp>
      <p:sp>
        <p:nvSpPr>
          <p:cNvPr id="3" name="Text 0"/>
          <p:cNvSpPr>
            <a:spLocks noGrp="1"/>
          </p:cNvSpPr>
          <p:nvPr>
            <p:ph type="title" idx="101" hasCustomPrompt="1"/>
          </p:nvPr>
        </p:nvSpPr>
        <p:spPr>
          <a:xfrm>
            <a:off x="548640" y="658368"/>
            <a:ext cx="11091672" cy="960120"/>
          </a:xfrm>
          <a:prstGeom prst="rect">
            <a:avLst/>
          </a:prstGeom>
          <a:noFill/>
          <a:ln/>
        </p:spPr>
        <p:txBody>
          <a:bodyPr wrap="square" lIns="0" tIns="0" rIns="0" bIns="0" rtlCol="0" anchor="t"/>
          <a:lstStyle/>
          <a:p>
            <a:pPr marL="0" indent="0" algn="l">
              <a:buNone/>
            </a:pPr>
            <a:r>
              <a:rPr lang="en-US" sz="3200" b="1" dirty="0">
                <a:solidFill>
                  <a:schemeClr val="bg1"/>
                </a:solidFill>
              </a:rPr>
              <a:t>The reference paper: a neural network beat ridge and a distance benchmark</a:t>
            </a:r>
            <a:endParaRPr lang="en-US" sz="3200" dirty="0"/>
          </a:p>
        </p:txBody>
      </p:sp>
      <p:sp>
        <p:nvSpPr>
          <p:cNvPr id="5" name="paper-method"/>
          <p:cNvSpPr txBox="1"/>
          <p:nvPr/>
        </p:nvSpPr>
        <p:spPr>
          <a:xfrm>
            <a:off x="548640" y="1828800"/>
            <a:ext cx="5440680" cy="4297680"/>
          </a:xfrm>
          <a:prstGeom prst="roundRect">
            <a:avLst>
              <a:gd name="adj" fmla="val 2128"/>
            </a:avLst>
          </a:prstGeom>
          <a:solidFill>
            <a:schemeClr val="bg2"/>
          </a:solidFill>
          <a:ln/>
        </p:spPr>
        <p:txBody>
          <a:bodyPr wrap="square" lIns="177800" tIns="177800" rIns="177800" bIns="177800" rtlCol="0" anchor="t"/>
          <a:lstStyle/>
          <a:p>
            <a:pPr marL="0" indent="0">
              <a:spcAft>
                <a:spcPts val="400"/>
              </a:spcAft>
              <a:buNone/>
            </a:pPr>
            <a:r>
              <a:rPr lang="en-US" sz="1300" b="1" dirty="0">
                <a:solidFill>
                  <a:schemeClr val="accent5"/>
                </a:solidFill>
              </a:rPr>
              <a:t>WHAT THE PAPER DID</a:t>
            </a:r>
            <a:endParaRPr lang="en-US" sz="1500" dirty="0"/>
          </a:p>
          <a:p>
            <a:pPr marL="203200" indent="-203200">
              <a:spcAft>
                <a:spcPts val="700"/>
              </a:spcAft>
              <a:buSzPct val="100000"/>
              <a:buChar char="•"/>
            </a:pPr>
            <a:r>
              <a:rPr lang="en-US" sz="1600" dirty="0">
                <a:solidFill>
                  <a:schemeClr val="tx1"/>
                </a:solidFill>
              </a:rPr>
              <a:t>NGA-West2: about 20,000 records; magnitude ≥ 5 leaves about 5,000</a:t>
            </a:r>
            <a:endParaRPr lang="en-US" sz="1500" dirty="0"/>
          </a:p>
          <a:p>
            <a:pPr marL="203200" indent="-203200">
              <a:spcAft>
                <a:spcPts val="700"/>
              </a:spcAft>
              <a:buSzPct val="100000"/>
              <a:buChar char="•"/>
            </a:pPr>
            <a:r>
              <a:rPr lang="en-US" sz="1600" dirty="0">
                <a:solidFill>
                  <a:schemeClr val="tx1"/>
                </a:solidFill>
              </a:rPr>
              <a:t>All same-event station pairs gave about 500,000 examples; pairs within 5 km leave about 5,300 (aimed at city-scale analysis)</a:t>
            </a:r>
            <a:endParaRPr lang="en-US" sz="1500" dirty="0"/>
          </a:p>
          <a:p>
            <a:pPr marL="203200" indent="-203200">
              <a:spcAft>
                <a:spcPts val="700"/>
              </a:spcAft>
              <a:buSzPct val="100000"/>
              <a:buChar char="•"/>
            </a:pPr>
            <a:r>
              <a:rPr lang="en-US" sz="1600" dirty="0">
                <a:solidFill>
                  <a:schemeClr val="tx1"/>
                </a:solidFill>
              </a:rPr>
              <a:t>Features: 274 attributes → 71 curated → 21 selected by backward/forward analysis</a:t>
            </a:r>
            <a:endParaRPr lang="en-US" sz="1500" dirty="0"/>
          </a:p>
          <a:p>
            <a:pPr marL="203200" indent="-203200">
              <a:spcAft>
                <a:spcPts val="700"/>
              </a:spcAft>
              <a:buSzPct val="100000"/>
              <a:buChar char="•"/>
            </a:pPr>
            <a:r>
              <a:rPr lang="en-US" sz="1600" dirty="0">
                <a:solidFill>
                  <a:schemeClr val="tx1"/>
                </a:solidFill>
              </a:rPr>
              <a:t>80/10/10 split; ridge regression (α = 1.5) and a neural network (25 layers × 400 neurons, ReLU, Adam)</a:t>
            </a:r>
            <a:endParaRPr lang="en-US" sz="1500" dirty="0"/>
          </a:p>
        </p:txBody>
      </p:sp>
      <p:graphicFrame>
        <p:nvGraphicFramePr>
          <p:cNvPr id="4" name="paper-table"/>
          <p:cNvGraphicFramePr>
            <a:graphicFrameLocks noGrp="1"/>
          </p:cNvGraphicFramePr>
          <p:nvPr>
            <p:extLst>
              <p:ext uri="{D42A27DB-BD31-4B8C-83A1-F6EECF244321}">
                <p14:modId xmlns:p14="http://schemas.microsoft.com/office/powerpoint/2010/main" val="1579011935"/>
              </p:ext>
            </p:extLst>
          </p:nvPr>
        </p:nvGraphicFramePr>
        <p:xfrm>
          <a:off x="6199632" y="1828800"/>
          <a:ext cx="5440680" cy="1828800"/>
        </p:xfrm>
        <a:graphic>
          <a:graphicData uri="http://schemas.openxmlformats.org/drawingml/2006/table">
            <a:tbl>
              <a:tblPr/>
              <a:tblGrid>
                <a:gridCol w="2880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457200">
                <a:tc>
                  <a:txBody>
                    <a:bodyPr/>
                    <a:lstStyle/>
                    <a:p>
                      <a:pPr marL="0" indent="0" algn="l">
                        <a:buNone/>
                      </a:pPr>
                      <a:r>
                        <a:rPr lang="en-US" sz="1500" b="1" dirty="0">
                          <a:solidFill>
                            <a:srgbClr val="FFFFFF"/>
                          </a:solidFill>
                        </a:rPr>
                        <a:t>Paper model</a:t>
                      </a:r>
                      <a:endParaRPr lang="en-US" sz="15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B4472A"/>
                    </a:solidFill>
                  </a:tcPr>
                </a:tc>
                <a:tc>
                  <a:txBody>
                    <a:bodyPr/>
                    <a:lstStyle/>
                    <a:p>
                      <a:pPr marL="0" indent="0" algn="ctr">
                        <a:buNone/>
                      </a:pPr>
                      <a:r>
                        <a:rPr lang="en-US" sz="1500" b="1" dirty="0">
                          <a:solidFill>
                            <a:srgbClr val="FFFFFF"/>
                          </a:solidFill>
                        </a:rPr>
                        <a:t>R²</a:t>
                      </a:r>
                      <a:endParaRPr lang="en-US" sz="15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B4472A"/>
                    </a:solidFill>
                  </a:tcPr>
                </a:tc>
                <a:tc>
                  <a:txBody>
                    <a:bodyPr/>
                    <a:lstStyle/>
                    <a:p>
                      <a:pPr marL="0" indent="0" algn="ctr">
                        <a:buNone/>
                      </a:pPr>
                      <a:r>
                        <a:rPr lang="en-US" sz="1500" b="1" dirty="0">
                          <a:solidFill>
                            <a:srgbClr val="FFFFFF"/>
                          </a:solidFill>
                        </a:rPr>
                        <a:t>MAE (°)</a:t>
                      </a:r>
                      <a:endParaRPr lang="en-US" sz="15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B4472A"/>
                    </a:solidFill>
                  </a:tcPr>
                </a:tc>
                <a:extLst>
                  <a:ext uri="{0D108BD9-81ED-4DB2-BD59-A6C34878D82A}">
                    <a16:rowId xmlns:a16="http://schemas.microsoft.com/office/drawing/2014/main" val="10000"/>
                  </a:ext>
                </a:extLst>
              </a:tr>
              <a:tr h="457200">
                <a:tc>
                  <a:txBody>
                    <a:bodyPr/>
                    <a:lstStyle/>
                    <a:p>
                      <a:pPr marL="0" indent="0" algn="l">
                        <a:buNone/>
                      </a:pPr>
                      <a:r>
                        <a:rPr lang="en-US" sz="1600" dirty="0">
                          <a:solidFill>
                            <a:srgbClr val="1F2A21"/>
                          </a:solidFill>
                        </a:rPr>
                        <a:t>Distance-only benchmark</a:t>
                      </a:r>
                      <a:endParaRPr lang="en-US" sz="16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tc>
                  <a:txBody>
                    <a:bodyPr/>
                    <a:lstStyle/>
                    <a:p>
                      <a:pPr marL="0" indent="0" algn="ctr">
                        <a:buNone/>
                      </a:pPr>
                      <a:r>
                        <a:rPr lang="en-US" sz="1600" dirty="0">
                          <a:solidFill>
                            <a:srgbClr val="1F2A21"/>
                          </a:solidFill>
                        </a:rPr>
                        <a:t>0.025</a:t>
                      </a:r>
                      <a:endParaRPr lang="en-US" sz="16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tc>
                  <a:txBody>
                    <a:bodyPr/>
                    <a:lstStyle/>
                    <a:p>
                      <a:pPr marL="0" indent="0" algn="ctr">
                        <a:buNone/>
                      </a:pPr>
                      <a:r>
                        <a:rPr lang="en-US" sz="1600" dirty="0">
                          <a:solidFill>
                            <a:srgbClr val="1F2A21"/>
                          </a:solidFill>
                        </a:rPr>
                        <a:t>20.2</a:t>
                      </a:r>
                      <a:endParaRPr lang="en-US" sz="16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extLst>
                  <a:ext uri="{0D108BD9-81ED-4DB2-BD59-A6C34878D82A}">
                    <a16:rowId xmlns:a16="http://schemas.microsoft.com/office/drawing/2014/main" val="10001"/>
                  </a:ext>
                </a:extLst>
              </a:tr>
              <a:tr h="457200">
                <a:tc>
                  <a:txBody>
                    <a:bodyPr/>
                    <a:lstStyle/>
                    <a:p>
                      <a:pPr marL="0" indent="0" algn="l">
                        <a:buNone/>
                      </a:pPr>
                      <a:r>
                        <a:rPr lang="en-US" sz="1600" dirty="0">
                          <a:solidFill>
                            <a:srgbClr val="1F2A21"/>
                          </a:solidFill>
                        </a:rPr>
                        <a:t>Ridge regression</a:t>
                      </a:r>
                      <a:endParaRPr lang="en-US" sz="16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tc>
                  <a:txBody>
                    <a:bodyPr/>
                    <a:lstStyle/>
                    <a:p>
                      <a:pPr marL="0" indent="0" algn="ctr">
                        <a:buNone/>
                      </a:pPr>
                      <a:r>
                        <a:rPr lang="en-US" sz="1600" dirty="0">
                          <a:solidFill>
                            <a:srgbClr val="1F2A21"/>
                          </a:solidFill>
                        </a:rPr>
                        <a:t>0.245</a:t>
                      </a:r>
                      <a:endParaRPr lang="en-US" sz="16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tc>
                  <a:txBody>
                    <a:bodyPr/>
                    <a:lstStyle/>
                    <a:p>
                      <a:pPr marL="0" indent="0" algn="ctr">
                        <a:buNone/>
                      </a:pPr>
                      <a:r>
                        <a:rPr lang="en-US" sz="1600" dirty="0">
                          <a:solidFill>
                            <a:srgbClr val="1F2A21"/>
                          </a:solidFill>
                        </a:rPr>
                        <a:t>16.9</a:t>
                      </a:r>
                      <a:endParaRPr lang="en-US" sz="16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extLst>
                  <a:ext uri="{0D108BD9-81ED-4DB2-BD59-A6C34878D82A}">
                    <a16:rowId xmlns:a16="http://schemas.microsoft.com/office/drawing/2014/main" val="10002"/>
                  </a:ext>
                </a:extLst>
              </a:tr>
              <a:tr h="457200">
                <a:tc>
                  <a:txBody>
                    <a:bodyPr/>
                    <a:lstStyle/>
                    <a:p>
                      <a:pPr marL="0" indent="0" algn="l">
                        <a:buNone/>
                      </a:pPr>
                      <a:r>
                        <a:rPr lang="en-US" sz="1600" b="1" dirty="0">
                          <a:solidFill>
                            <a:srgbClr val="1F2A21"/>
                          </a:solidFill>
                        </a:rPr>
                        <a:t>Neural network</a:t>
                      </a:r>
                      <a:endParaRPr lang="en-US" sz="16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tc>
                  <a:txBody>
                    <a:bodyPr/>
                    <a:lstStyle/>
                    <a:p>
                      <a:pPr marL="0" indent="0" algn="ctr">
                        <a:buNone/>
                      </a:pPr>
                      <a:r>
                        <a:rPr lang="en-US" sz="1600" b="1" dirty="0">
                          <a:solidFill>
                            <a:srgbClr val="1F2A21"/>
                          </a:solidFill>
                        </a:rPr>
                        <a:t>0.354</a:t>
                      </a:r>
                      <a:endParaRPr lang="en-US" sz="16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tc>
                  <a:txBody>
                    <a:bodyPr/>
                    <a:lstStyle/>
                    <a:p>
                      <a:pPr marL="0" indent="0" algn="ctr">
                        <a:buNone/>
                      </a:pPr>
                      <a:r>
                        <a:rPr lang="en-US" sz="1600" b="1" dirty="0">
                          <a:solidFill>
                            <a:srgbClr val="1F2A21"/>
                          </a:solidFill>
                        </a:rPr>
                        <a:t>13.2</a:t>
                      </a:r>
                      <a:endParaRPr lang="en-US" sz="16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extLst>
                  <a:ext uri="{0D108BD9-81ED-4DB2-BD59-A6C34878D82A}">
                    <a16:rowId xmlns:a16="http://schemas.microsoft.com/office/drawing/2014/main" val="10003"/>
                  </a:ext>
                </a:extLst>
              </a:tr>
            </a:tbl>
          </a:graphicData>
        </a:graphic>
      </p:graphicFrame>
      <p:sp>
        <p:nvSpPr>
          <p:cNvPr id="7" name="paper-caption"/>
          <p:cNvSpPr txBox="1"/>
          <p:nvPr/>
        </p:nvSpPr>
        <p:spPr>
          <a:xfrm>
            <a:off x="6199632" y="3749040"/>
            <a:ext cx="5440680" cy="320040"/>
          </a:xfrm>
          <a:prstGeom prst="rect">
            <a:avLst/>
          </a:prstGeom>
          <a:noFill/>
          <a:ln/>
        </p:spPr>
        <p:txBody>
          <a:bodyPr wrap="square" lIns="0" tIns="0" rIns="0" bIns="0" rtlCol="0" anchor="t"/>
          <a:lstStyle/>
          <a:p>
            <a:pPr marL="0" indent="0">
              <a:buNone/>
            </a:pPr>
            <a:r>
              <a:rPr lang="en-US" sz="1200" i="1" dirty="0">
                <a:solidFill>
                  <a:schemeClr val="accent2"/>
                </a:solidFill>
              </a:rPr>
              <a:t>Test-set values reported by the paper. Reference only, not our results.</a:t>
            </a:r>
            <a:endParaRPr lang="en-US" sz="1200" dirty="0"/>
          </a:p>
        </p:txBody>
      </p:sp>
      <p:sp>
        <p:nvSpPr>
          <p:cNvPr id="8" name="paper-insight"/>
          <p:cNvSpPr txBox="1"/>
          <p:nvPr/>
        </p:nvSpPr>
        <p:spPr>
          <a:xfrm>
            <a:off x="6199632" y="4251960"/>
            <a:ext cx="5440680" cy="1874520"/>
          </a:xfrm>
          <a:prstGeom prst="roundRect">
            <a:avLst>
              <a:gd name="adj" fmla="val 4878"/>
            </a:avLst>
          </a:prstGeom>
          <a:solidFill>
            <a:schemeClr val="bg2"/>
          </a:solidFill>
          <a:ln/>
        </p:spPr>
        <p:txBody>
          <a:bodyPr wrap="square" lIns="177800" tIns="177800" rIns="177800" bIns="177800" rtlCol="0" anchor="ctr"/>
          <a:lstStyle/>
          <a:p>
            <a:pPr marL="0" indent="0">
              <a:spcAft>
                <a:spcPts val="400"/>
              </a:spcAft>
              <a:buNone/>
            </a:pPr>
            <a:r>
              <a:rPr lang="en-US" sz="1300" b="1" dirty="0">
                <a:solidFill>
                  <a:schemeClr val="accent5"/>
                </a:solidFill>
              </a:rPr>
              <a:t>EVEN THE BEST MODEL IS MODEST</a:t>
            </a:r>
            <a:endParaRPr lang="en-US" sz="1500" dirty="0"/>
          </a:p>
          <a:p>
            <a:pPr marL="0" indent="0">
              <a:spcAft>
                <a:spcPts val="400"/>
              </a:spcAft>
              <a:buNone/>
            </a:pPr>
            <a:r>
              <a:rPr lang="en-US" sz="1600" dirty="0">
                <a:solidFill>
                  <a:schemeClr val="tx1"/>
                </a:solidFill>
              </a:rPr>
              <a:t>It explains about 35% of the variance. The paper attributes this to high inherent uncertainty in Δθ, and its network overfits (training R² 0.996 vs test 0.354).</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320040"/>
          </a:xfrm>
          <a:prstGeom prst="rect">
            <a:avLst/>
          </a:prstGeom>
          <a:noFill/>
          <a:ln/>
        </p:spPr>
        <p:txBody>
          <a:bodyPr wrap="square" lIns="0" tIns="0" rIns="0" bIns="0" rtlCol="0" anchor="t"/>
          <a:lstStyle/>
          <a:p>
            <a:pPr marL="0" indent="0">
              <a:buNone/>
            </a:pPr>
            <a:r>
              <a:rPr lang="en-US" sz="1300" b="1" dirty="0">
                <a:solidFill>
                  <a:schemeClr val="accent1"/>
                </a:solidFill>
              </a:rPr>
              <a:t>03  ·  DATA</a:t>
            </a:r>
            <a:endParaRPr lang="en-US" sz="1300" dirty="0"/>
          </a:p>
        </p:txBody>
      </p:sp>
      <p:sp>
        <p:nvSpPr>
          <p:cNvPr id="3" name="Text 0"/>
          <p:cNvSpPr>
            <a:spLocks noGrp="1"/>
          </p:cNvSpPr>
          <p:nvPr>
            <p:ph type="title" idx="101" hasCustomPrompt="1"/>
          </p:nvPr>
        </p:nvSpPr>
        <p:spPr>
          <a:xfrm>
            <a:off x="548640" y="658368"/>
            <a:ext cx="11091672" cy="960120"/>
          </a:xfrm>
          <a:prstGeom prst="rect">
            <a:avLst/>
          </a:prstGeom>
          <a:noFill/>
          <a:ln/>
        </p:spPr>
        <p:txBody>
          <a:bodyPr wrap="square" lIns="0" tIns="0" rIns="0" bIns="0" rtlCol="0" anchor="t"/>
          <a:lstStyle/>
          <a:p>
            <a:pPr marL="0" indent="0" algn="l">
              <a:buNone/>
            </a:pPr>
            <a:r>
              <a:rPr lang="en-US" sz="3200" b="1" dirty="0">
                <a:solidFill>
                  <a:schemeClr val="bg1"/>
                </a:solidFill>
              </a:rPr>
              <a:t>Our data: a small, non-random subset of NGA-West2</a:t>
            </a:r>
            <a:endParaRPr lang="en-US" sz="3200" dirty="0"/>
          </a:p>
        </p:txBody>
      </p:sp>
      <p:sp>
        <p:nvSpPr>
          <p:cNvPr id="5" name="stat0"/>
          <p:cNvSpPr txBox="1"/>
          <p:nvPr/>
        </p:nvSpPr>
        <p:spPr>
          <a:xfrm>
            <a:off x="548640" y="1828800"/>
            <a:ext cx="2606040" cy="2331720"/>
          </a:xfrm>
          <a:prstGeom prst="roundRect">
            <a:avLst>
              <a:gd name="adj" fmla="val 3922"/>
            </a:avLst>
          </a:prstGeom>
          <a:solidFill>
            <a:schemeClr val="bg2"/>
          </a:solidFill>
          <a:ln/>
        </p:spPr>
        <p:txBody>
          <a:bodyPr wrap="square" lIns="177800" tIns="177800" rIns="177800" bIns="177800" rtlCol="0" anchor="ctr"/>
          <a:lstStyle/>
          <a:p>
            <a:pPr marL="0" indent="0">
              <a:spcAft>
                <a:spcPts val="200"/>
              </a:spcAft>
              <a:buNone/>
            </a:pPr>
            <a:r>
              <a:rPr lang="en-US" sz="6000" b="1" dirty="0">
                <a:solidFill>
                  <a:schemeClr val="accent5"/>
                </a:solidFill>
                <a:latin typeface="+mj-lt" pitchFamily="34" charset="0"/>
                <a:ea typeface="+mj-lt" pitchFamily="34" charset="-122"/>
                <a:cs typeface="+mj-lt" pitchFamily="34" charset="-120"/>
              </a:rPr>
              <a:t>100</a:t>
            </a:r>
            <a:endParaRPr lang="en-US" sz="1500" dirty="0"/>
          </a:p>
          <a:p>
            <a:pPr marL="0" indent="0">
              <a:buNone/>
            </a:pPr>
            <a:r>
              <a:rPr lang="en-US" sz="1500" dirty="0">
                <a:solidFill>
                  <a:schemeClr val="tx1"/>
                </a:solidFill>
              </a:rPr>
              <a:t>unique RSNs in the downloaded folder</a:t>
            </a:r>
            <a:endParaRPr lang="en-US" sz="1500" dirty="0"/>
          </a:p>
        </p:txBody>
      </p:sp>
      <p:sp>
        <p:nvSpPr>
          <p:cNvPr id="6" name="stat1"/>
          <p:cNvSpPr txBox="1"/>
          <p:nvPr/>
        </p:nvSpPr>
        <p:spPr>
          <a:xfrm>
            <a:off x="3376879" y="1828800"/>
            <a:ext cx="2606040" cy="2331720"/>
          </a:xfrm>
          <a:prstGeom prst="roundRect">
            <a:avLst>
              <a:gd name="adj" fmla="val 3922"/>
            </a:avLst>
          </a:prstGeom>
          <a:solidFill>
            <a:schemeClr val="bg2"/>
          </a:solidFill>
          <a:ln/>
        </p:spPr>
        <p:txBody>
          <a:bodyPr wrap="square" lIns="177800" tIns="177800" rIns="177800" bIns="177800" rtlCol="0" anchor="ctr"/>
          <a:lstStyle/>
          <a:p>
            <a:pPr marL="0" indent="0">
              <a:spcAft>
                <a:spcPts val="200"/>
              </a:spcAft>
              <a:buNone/>
            </a:pPr>
            <a:r>
              <a:rPr lang="en-US" sz="6000" b="1" dirty="0">
                <a:solidFill>
                  <a:schemeClr val="accent5"/>
                </a:solidFill>
                <a:latin typeface="+mj-lt" pitchFamily="34" charset="0"/>
                <a:ea typeface="+mj-lt" pitchFamily="34" charset="-122"/>
                <a:cs typeface="+mj-lt" pitchFamily="34" charset="-120"/>
              </a:rPr>
              <a:t>93</a:t>
            </a:r>
            <a:endParaRPr lang="en-US" sz="1500" dirty="0"/>
          </a:p>
          <a:p>
            <a:pPr marL="0" indent="0">
              <a:buNone/>
            </a:pPr>
            <a:r>
              <a:rPr lang="en-US" sz="1500" dirty="0">
                <a:solidFill>
                  <a:schemeClr val="tx1"/>
                </a:solidFill>
              </a:rPr>
              <a:t>usable records matched to flatfile metadata</a:t>
            </a:r>
            <a:endParaRPr lang="en-US" sz="1500" dirty="0"/>
          </a:p>
        </p:txBody>
      </p:sp>
      <p:sp>
        <p:nvSpPr>
          <p:cNvPr id="7" name="stat2"/>
          <p:cNvSpPr txBox="1"/>
          <p:nvPr/>
        </p:nvSpPr>
        <p:spPr>
          <a:xfrm>
            <a:off x="6205118" y="1828800"/>
            <a:ext cx="2606040" cy="2331720"/>
          </a:xfrm>
          <a:prstGeom prst="roundRect">
            <a:avLst>
              <a:gd name="adj" fmla="val 3922"/>
            </a:avLst>
          </a:prstGeom>
          <a:solidFill>
            <a:schemeClr val="bg2"/>
          </a:solidFill>
          <a:ln/>
        </p:spPr>
        <p:txBody>
          <a:bodyPr wrap="square" lIns="177800" tIns="177800" rIns="177800" bIns="177800" rtlCol="0" anchor="ctr"/>
          <a:lstStyle/>
          <a:p>
            <a:pPr marL="0" indent="0">
              <a:spcAft>
                <a:spcPts val="200"/>
              </a:spcAft>
              <a:buNone/>
            </a:pPr>
            <a:r>
              <a:rPr lang="en-US" sz="6000" b="1" dirty="0">
                <a:solidFill>
                  <a:schemeClr val="accent5"/>
                </a:solidFill>
                <a:latin typeface="+mj-lt" pitchFamily="34" charset="0"/>
                <a:ea typeface="+mj-lt" pitchFamily="34" charset="-122"/>
                <a:cs typeface="+mj-lt" pitchFamily="34" charset="-120"/>
              </a:rPr>
              <a:t>269</a:t>
            </a:r>
            <a:endParaRPr lang="en-US" sz="1500" dirty="0"/>
          </a:p>
          <a:p>
            <a:pPr marL="0" indent="0">
              <a:buNone/>
            </a:pPr>
            <a:r>
              <a:rPr lang="en-US" sz="1500" dirty="0">
                <a:solidFill>
                  <a:schemeClr val="tx1"/>
                </a:solidFill>
              </a:rPr>
              <a:t>same-event pairs within 100 km, from 9 events</a:t>
            </a:r>
            <a:endParaRPr lang="en-US" sz="1500" dirty="0"/>
          </a:p>
        </p:txBody>
      </p:sp>
      <p:sp>
        <p:nvSpPr>
          <p:cNvPr id="8" name="stat3"/>
          <p:cNvSpPr txBox="1"/>
          <p:nvPr/>
        </p:nvSpPr>
        <p:spPr>
          <a:xfrm>
            <a:off x="9033358" y="1828800"/>
            <a:ext cx="2606040" cy="2331720"/>
          </a:xfrm>
          <a:prstGeom prst="roundRect">
            <a:avLst>
              <a:gd name="adj" fmla="val 3922"/>
            </a:avLst>
          </a:prstGeom>
          <a:solidFill>
            <a:schemeClr val="accent1"/>
          </a:solidFill>
          <a:ln/>
        </p:spPr>
        <p:txBody>
          <a:bodyPr wrap="square" lIns="177800" tIns="177800" rIns="177800" bIns="177800" rtlCol="0" anchor="ctr"/>
          <a:lstStyle/>
          <a:p>
            <a:pPr marL="0" indent="0">
              <a:spcAft>
                <a:spcPts val="200"/>
              </a:spcAft>
              <a:buNone/>
            </a:pPr>
            <a:r>
              <a:rPr lang="en-US" sz="6000" b="1" dirty="0">
                <a:solidFill>
                  <a:schemeClr val="tx1"/>
                </a:solidFill>
                <a:latin typeface="+mj-lt" pitchFamily="34" charset="0"/>
                <a:ea typeface="+mj-lt" pitchFamily="34" charset="-122"/>
                <a:cs typeface="+mj-lt" pitchFamily="34" charset="-120"/>
              </a:rPr>
              <a:t>8</a:t>
            </a:r>
            <a:endParaRPr lang="en-US" sz="1500" dirty="0"/>
          </a:p>
          <a:p>
            <a:pPr marL="0" indent="0">
              <a:buNone/>
            </a:pPr>
            <a:r>
              <a:rPr lang="en-US" sz="1500" dirty="0">
                <a:solidFill>
                  <a:schemeClr val="tx1"/>
                </a:solidFill>
              </a:rPr>
              <a:t>pairs within 5 km, from 5 events (the paper's rule)</a:t>
            </a:r>
            <a:endParaRPr lang="en-US" sz="1500" dirty="0"/>
          </a:p>
        </p:txBody>
      </p:sp>
      <p:sp>
        <p:nvSpPr>
          <p:cNvPr id="9" name="constraint-box"/>
          <p:cNvSpPr/>
          <p:nvPr/>
        </p:nvSpPr>
        <p:spPr>
          <a:xfrm>
            <a:off x="548640" y="4434840"/>
            <a:ext cx="11091672" cy="1691640"/>
          </a:xfrm>
          <a:prstGeom prst="roundRect">
            <a:avLst>
              <a:gd name="adj" fmla="val 5405"/>
            </a:avLst>
          </a:prstGeom>
          <a:solidFill>
            <a:schemeClr val="accent4"/>
          </a:solidFill>
          <a:ln w="12700">
            <a:solidFill>
              <a:schemeClr val="accent4"/>
            </a:solidFill>
            <a:prstDash val="solid"/>
          </a:ln>
        </p:spPr>
      </p:sp>
      <p:sp>
        <p:nvSpPr>
          <p:cNvPr id="10" name="warn-icon-bg"/>
          <p:cNvSpPr/>
          <p:nvPr/>
        </p:nvSpPr>
        <p:spPr>
          <a:xfrm>
            <a:off x="822960" y="4754880"/>
            <a:ext cx="731520" cy="731520"/>
          </a:xfrm>
          <a:prstGeom prst="ellipse">
            <a:avLst/>
          </a:prstGeom>
          <a:solidFill>
            <a:srgbClr val="F08A4B"/>
          </a:solidFill>
          <a:ln w="12700">
            <a:solidFill>
              <a:srgbClr val="F08A4B"/>
            </a:solidFill>
            <a:prstDash val="solid"/>
          </a:ln>
        </p:spPr>
      </p:sp>
      <p:pic>
        <p:nvPicPr>
          <p:cNvPr id="11" name="warn-icon" descr="warn-icon"/>
          <p:cNvPicPr>
            <a:picLocks noChangeAspect="1"/>
          </p:cNvPicPr>
          <p:nvPr/>
        </p:nvPicPr>
        <p:blipFill>
          <a:blip r:embed="rId3"/>
          <a:stretch>
            <a:fillRect/>
          </a:stretch>
        </p:blipFill>
        <p:spPr>
          <a:xfrm>
            <a:off x="1005840" y="4937760"/>
            <a:ext cx="365760" cy="365760"/>
          </a:xfrm>
          <a:prstGeom prst="rect">
            <a:avLst/>
          </a:prstGeom>
        </p:spPr>
      </p:pic>
      <p:sp>
        <p:nvSpPr>
          <p:cNvPr id="12" name="constraint-text"/>
          <p:cNvSpPr txBox="1"/>
          <p:nvPr/>
        </p:nvSpPr>
        <p:spPr>
          <a:xfrm>
            <a:off x="1874520" y="4617720"/>
            <a:ext cx="9509760" cy="1371600"/>
          </a:xfrm>
          <a:prstGeom prst="rect">
            <a:avLst/>
          </a:prstGeom>
          <a:noFill/>
          <a:ln/>
        </p:spPr>
        <p:txBody>
          <a:bodyPr wrap="square" lIns="0" tIns="0" rIns="0" bIns="0" rtlCol="0" anchor="ctr"/>
          <a:lstStyle/>
          <a:p>
            <a:pPr marL="0" indent="0">
              <a:spcAft>
                <a:spcPts val="400"/>
              </a:spcAft>
              <a:buNone/>
            </a:pPr>
            <a:r>
              <a:rPr lang="en-US" sz="1800" b="1" dirty="0">
                <a:solidFill>
                  <a:schemeClr val="bg1"/>
                </a:solidFill>
              </a:rPr>
              <a:t>Data constraint</a:t>
            </a:r>
            <a:endParaRPr lang="en-US" sz="1500" dirty="0"/>
          </a:p>
          <a:p>
            <a:pPr marL="0" indent="0">
              <a:spcAft>
                <a:spcPts val="400"/>
              </a:spcAft>
              <a:buNone/>
            </a:pPr>
            <a:r>
              <a:rPr lang="en-US" sz="1500" dirty="0">
                <a:solidFill>
                  <a:schemeClr val="bg1"/>
                </a:solidFill>
              </a:rPr>
              <a:t>PEER access and download limits restricted the subset: it is not random and not representative of the full database.</a:t>
            </a:r>
            <a:endParaRPr lang="en-US" sz="1500" dirty="0"/>
          </a:p>
          <a:p>
            <a:pPr marL="0" indent="0">
              <a:buNone/>
            </a:pPr>
            <a:r>
              <a:rPr lang="en-US" sz="1500" dirty="0">
                <a:solidFill>
                  <a:schemeClr val="bg1"/>
                </a:solidFill>
              </a:rPr>
              <a:t>With only 8 pairs at 5 km the strict experiment cannot support a model comparison, so the 100 km pairs only exercise the workflow.</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320040"/>
          </a:xfrm>
          <a:prstGeom prst="rect">
            <a:avLst/>
          </a:prstGeom>
          <a:noFill/>
          <a:ln/>
        </p:spPr>
        <p:txBody>
          <a:bodyPr wrap="square" lIns="0" tIns="0" rIns="0" bIns="0" rtlCol="0" anchor="t"/>
          <a:lstStyle/>
          <a:p>
            <a:pPr marL="0" indent="0">
              <a:buNone/>
            </a:pPr>
            <a:r>
              <a:rPr lang="en-US" sz="1300" b="1" dirty="0">
                <a:solidFill>
                  <a:schemeClr val="accent1"/>
                </a:solidFill>
              </a:rPr>
              <a:t>04  ·  PIPELINE</a:t>
            </a:r>
            <a:endParaRPr lang="en-US" sz="1300" dirty="0"/>
          </a:p>
        </p:txBody>
      </p:sp>
      <p:sp>
        <p:nvSpPr>
          <p:cNvPr id="3" name="Text 0"/>
          <p:cNvSpPr>
            <a:spLocks noGrp="1"/>
          </p:cNvSpPr>
          <p:nvPr>
            <p:ph type="title" idx="101" hasCustomPrompt="1"/>
          </p:nvPr>
        </p:nvSpPr>
        <p:spPr>
          <a:xfrm>
            <a:off x="548640" y="658368"/>
            <a:ext cx="11091672" cy="960120"/>
          </a:xfrm>
          <a:prstGeom prst="rect">
            <a:avLst/>
          </a:prstGeom>
          <a:noFill/>
          <a:ln/>
        </p:spPr>
        <p:txBody>
          <a:bodyPr wrap="square" lIns="0" tIns="0" rIns="0" bIns="0" rtlCol="0" anchor="t"/>
          <a:lstStyle/>
          <a:p>
            <a:pPr marL="0" indent="0" algn="l">
              <a:buNone/>
            </a:pPr>
            <a:r>
              <a:rPr lang="en-US" sz="3200" b="1" dirty="0">
                <a:solidFill>
                  <a:schemeClr val="bg1"/>
                </a:solidFill>
              </a:rPr>
              <a:t>Pipeline: from raw accelerograms to station-pair examples</a:t>
            </a:r>
            <a:endParaRPr lang="en-US" sz="3200" dirty="0"/>
          </a:p>
        </p:txBody>
      </p:sp>
      <p:sp>
        <p:nvSpPr>
          <p:cNvPr id="5" name="step-box0"/>
          <p:cNvSpPr/>
          <p:nvPr/>
        </p:nvSpPr>
        <p:spPr>
          <a:xfrm>
            <a:off x="548640" y="1828800"/>
            <a:ext cx="1993392" cy="2788920"/>
          </a:xfrm>
          <a:prstGeom prst="roundRect">
            <a:avLst>
              <a:gd name="adj" fmla="val 4587"/>
            </a:avLst>
          </a:prstGeom>
          <a:solidFill>
            <a:schemeClr val="bg2"/>
          </a:solidFill>
          <a:ln w="12700">
            <a:solidFill>
              <a:schemeClr val="bg2"/>
            </a:solidFill>
            <a:prstDash val="solid"/>
          </a:ln>
        </p:spPr>
      </p:sp>
      <p:sp>
        <p:nvSpPr>
          <p:cNvPr id="6" name="step-num-bg0"/>
          <p:cNvSpPr/>
          <p:nvPr/>
        </p:nvSpPr>
        <p:spPr>
          <a:xfrm>
            <a:off x="731520" y="2011680"/>
            <a:ext cx="457200" cy="457200"/>
          </a:xfrm>
          <a:prstGeom prst="ellipse">
            <a:avLst/>
          </a:prstGeom>
          <a:solidFill>
            <a:srgbClr val="B4472A"/>
          </a:solidFill>
          <a:ln w="12700">
            <a:solidFill>
              <a:srgbClr val="B4472A"/>
            </a:solidFill>
            <a:prstDash val="solid"/>
          </a:ln>
        </p:spPr>
      </p:sp>
      <p:sp>
        <p:nvSpPr>
          <p:cNvPr id="7" name="step-num0"/>
          <p:cNvSpPr txBox="1"/>
          <p:nvPr/>
        </p:nvSpPr>
        <p:spPr>
          <a:xfrm>
            <a:off x="731520" y="20116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8" name="step-title0"/>
          <p:cNvSpPr txBox="1"/>
          <p:nvPr/>
        </p:nvSpPr>
        <p:spPr>
          <a:xfrm>
            <a:off x="731520" y="2651760"/>
            <a:ext cx="1645920" cy="594360"/>
          </a:xfrm>
          <a:prstGeom prst="rect">
            <a:avLst/>
          </a:prstGeom>
          <a:noFill/>
          <a:ln/>
        </p:spPr>
        <p:txBody>
          <a:bodyPr wrap="square" lIns="0" tIns="0" rIns="0" bIns="0" rtlCol="0" anchor="t"/>
          <a:lstStyle/>
          <a:p>
            <a:pPr marL="0" indent="0">
              <a:buNone/>
            </a:pPr>
            <a:r>
              <a:rPr lang="en-US" sz="1600" b="1" dirty="0">
                <a:solidFill>
                  <a:schemeClr val="tx1"/>
                </a:solidFill>
              </a:rPr>
              <a:t>Parse AT2 files</a:t>
            </a:r>
            <a:endParaRPr lang="en-US" sz="1600" dirty="0"/>
          </a:p>
        </p:txBody>
      </p:sp>
      <p:sp>
        <p:nvSpPr>
          <p:cNvPr id="9" name="step-desc0"/>
          <p:cNvSpPr txBox="1"/>
          <p:nvPr/>
        </p:nvSpPr>
        <p:spPr>
          <a:xfrm>
            <a:off x="731520" y="3246120"/>
            <a:ext cx="1645920" cy="1280160"/>
          </a:xfrm>
          <a:prstGeom prst="rect">
            <a:avLst/>
          </a:prstGeom>
          <a:noFill/>
          <a:ln/>
        </p:spPr>
        <p:txBody>
          <a:bodyPr wrap="square" lIns="0" tIns="0" rIns="0" bIns="0" rtlCol="0" anchor="t"/>
          <a:lstStyle/>
          <a:p>
            <a:pPr marL="0" indent="0">
              <a:buNone/>
            </a:pPr>
            <a:r>
              <a:rPr lang="en-US" sz="1400" dirty="0">
                <a:solidFill>
                  <a:schemeClr val="tx1"/>
                </a:solidFill>
              </a:rPr>
              <a:t>Read NGA-West2 headers, time step and acceleration samples</a:t>
            </a:r>
            <a:endParaRPr lang="en-US" sz="1400" dirty="0"/>
          </a:p>
        </p:txBody>
      </p:sp>
      <p:sp>
        <p:nvSpPr>
          <p:cNvPr id="10" name="arrow0"/>
          <p:cNvSpPr/>
          <p:nvPr/>
        </p:nvSpPr>
        <p:spPr>
          <a:xfrm>
            <a:off x="2578608" y="3063240"/>
            <a:ext cx="201168" cy="274320"/>
          </a:xfrm>
          <a:prstGeom prst="rightArrow">
            <a:avLst/>
          </a:prstGeom>
          <a:solidFill>
            <a:srgbClr val="F08A4B"/>
          </a:solidFill>
          <a:ln w="12700">
            <a:solidFill>
              <a:srgbClr val="F08A4B"/>
            </a:solidFill>
            <a:prstDash val="solid"/>
          </a:ln>
        </p:spPr>
      </p:sp>
      <p:sp>
        <p:nvSpPr>
          <p:cNvPr id="11" name="step-box1"/>
          <p:cNvSpPr/>
          <p:nvPr/>
        </p:nvSpPr>
        <p:spPr>
          <a:xfrm>
            <a:off x="2816352" y="1828800"/>
            <a:ext cx="1993392" cy="2788920"/>
          </a:xfrm>
          <a:prstGeom prst="roundRect">
            <a:avLst>
              <a:gd name="adj" fmla="val 4587"/>
            </a:avLst>
          </a:prstGeom>
          <a:solidFill>
            <a:schemeClr val="bg2"/>
          </a:solidFill>
          <a:ln w="12700">
            <a:solidFill>
              <a:schemeClr val="bg2"/>
            </a:solidFill>
            <a:prstDash val="solid"/>
          </a:ln>
        </p:spPr>
      </p:sp>
      <p:sp>
        <p:nvSpPr>
          <p:cNvPr id="12" name="step-num-bg1"/>
          <p:cNvSpPr/>
          <p:nvPr/>
        </p:nvSpPr>
        <p:spPr>
          <a:xfrm>
            <a:off x="2999232" y="2011680"/>
            <a:ext cx="457200" cy="457200"/>
          </a:xfrm>
          <a:prstGeom prst="ellipse">
            <a:avLst/>
          </a:prstGeom>
          <a:solidFill>
            <a:srgbClr val="B4472A"/>
          </a:solidFill>
          <a:ln w="12700">
            <a:solidFill>
              <a:srgbClr val="B4472A"/>
            </a:solidFill>
            <a:prstDash val="solid"/>
          </a:ln>
        </p:spPr>
      </p:sp>
      <p:sp>
        <p:nvSpPr>
          <p:cNvPr id="13" name="step-num1"/>
          <p:cNvSpPr txBox="1"/>
          <p:nvPr/>
        </p:nvSpPr>
        <p:spPr>
          <a:xfrm>
            <a:off x="2999232" y="20116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4" name="step-title1"/>
          <p:cNvSpPr txBox="1"/>
          <p:nvPr/>
        </p:nvSpPr>
        <p:spPr>
          <a:xfrm>
            <a:off x="2999232" y="2651760"/>
            <a:ext cx="1645920" cy="594360"/>
          </a:xfrm>
          <a:prstGeom prst="rect">
            <a:avLst/>
          </a:prstGeom>
          <a:noFill/>
          <a:ln/>
        </p:spPr>
        <p:txBody>
          <a:bodyPr wrap="square" lIns="0" tIns="0" rIns="0" bIns="0" rtlCol="0" anchor="t"/>
          <a:lstStyle/>
          <a:p>
            <a:pPr marL="0" indent="0">
              <a:buNone/>
            </a:pPr>
            <a:r>
              <a:rPr lang="en-US" sz="1600" b="1" dirty="0">
                <a:solidFill>
                  <a:schemeClr val="tx1"/>
                </a:solidFill>
              </a:rPr>
              <a:t>Pair components</a:t>
            </a:r>
            <a:endParaRPr lang="en-US" sz="1600" dirty="0"/>
          </a:p>
        </p:txBody>
      </p:sp>
      <p:sp>
        <p:nvSpPr>
          <p:cNvPr id="15" name="step-desc1"/>
          <p:cNvSpPr txBox="1"/>
          <p:nvPr/>
        </p:nvSpPr>
        <p:spPr>
          <a:xfrm>
            <a:off x="2999232" y="3246120"/>
            <a:ext cx="1645920" cy="1280160"/>
          </a:xfrm>
          <a:prstGeom prst="rect">
            <a:avLst/>
          </a:prstGeom>
          <a:noFill/>
          <a:ln/>
        </p:spPr>
        <p:txBody>
          <a:bodyPr wrap="square" lIns="0" tIns="0" rIns="0" bIns="0" rtlCol="0" anchor="t"/>
          <a:lstStyle/>
          <a:p>
            <a:pPr marL="0" indent="0">
              <a:buNone/>
            </a:pPr>
            <a:r>
              <a:rPr lang="en-US" sz="1400" dirty="0">
                <a:solidFill>
                  <a:schemeClr val="tx1"/>
                </a:solidFill>
              </a:rPr>
              <a:t>Match near-orthogonal horizontal components for each station</a:t>
            </a:r>
            <a:endParaRPr lang="en-US" sz="1400" dirty="0"/>
          </a:p>
        </p:txBody>
      </p:sp>
      <p:sp>
        <p:nvSpPr>
          <p:cNvPr id="16" name="arrow1"/>
          <p:cNvSpPr/>
          <p:nvPr/>
        </p:nvSpPr>
        <p:spPr>
          <a:xfrm>
            <a:off x="4846320" y="3063240"/>
            <a:ext cx="201168" cy="274320"/>
          </a:xfrm>
          <a:prstGeom prst="rightArrow">
            <a:avLst/>
          </a:prstGeom>
          <a:solidFill>
            <a:srgbClr val="F08A4B"/>
          </a:solidFill>
          <a:ln w="12700">
            <a:solidFill>
              <a:srgbClr val="F08A4B"/>
            </a:solidFill>
            <a:prstDash val="solid"/>
          </a:ln>
        </p:spPr>
      </p:sp>
      <p:sp>
        <p:nvSpPr>
          <p:cNvPr id="17" name="step-box2"/>
          <p:cNvSpPr/>
          <p:nvPr/>
        </p:nvSpPr>
        <p:spPr>
          <a:xfrm>
            <a:off x="5084064" y="1828800"/>
            <a:ext cx="1993392" cy="2788920"/>
          </a:xfrm>
          <a:prstGeom prst="roundRect">
            <a:avLst>
              <a:gd name="adj" fmla="val 4587"/>
            </a:avLst>
          </a:prstGeom>
          <a:solidFill>
            <a:schemeClr val="bg2"/>
          </a:solidFill>
          <a:ln w="12700">
            <a:solidFill>
              <a:schemeClr val="bg2"/>
            </a:solidFill>
            <a:prstDash val="solid"/>
          </a:ln>
        </p:spPr>
      </p:sp>
      <p:sp>
        <p:nvSpPr>
          <p:cNvPr id="18" name="step-num-bg2"/>
          <p:cNvSpPr/>
          <p:nvPr/>
        </p:nvSpPr>
        <p:spPr>
          <a:xfrm>
            <a:off x="5266944" y="2011680"/>
            <a:ext cx="457200" cy="457200"/>
          </a:xfrm>
          <a:prstGeom prst="ellipse">
            <a:avLst/>
          </a:prstGeom>
          <a:solidFill>
            <a:srgbClr val="B4472A"/>
          </a:solidFill>
          <a:ln w="12700">
            <a:solidFill>
              <a:srgbClr val="B4472A"/>
            </a:solidFill>
            <a:prstDash val="solid"/>
          </a:ln>
        </p:spPr>
      </p:sp>
      <p:sp>
        <p:nvSpPr>
          <p:cNvPr id="19" name="step-num2"/>
          <p:cNvSpPr txBox="1"/>
          <p:nvPr/>
        </p:nvSpPr>
        <p:spPr>
          <a:xfrm>
            <a:off x="5266944" y="20116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20" name="step-title2"/>
          <p:cNvSpPr txBox="1"/>
          <p:nvPr/>
        </p:nvSpPr>
        <p:spPr>
          <a:xfrm>
            <a:off x="5266944" y="2651760"/>
            <a:ext cx="1645920" cy="594360"/>
          </a:xfrm>
          <a:prstGeom prst="rect">
            <a:avLst/>
          </a:prstGeom>
          <a:noFill/>
          <a:ln/>
        </p:spPr>
        <p:txBody>
          <a:bodyPr wrap="square" lIns="0" tIns="0" rIns="0" bIns="0" rtlCol="0" anchor="t"/>
          <a:lstStyle/>
          <a:p>
            <a:pPr marL="0" indent="0">
              <a:buNone/>
            </a:pPr>
            <a:r>
              <a:rPr lang="en-US" sz="1600" b="1" dirty="0">
                <a:solidFill>
                  <a:schemeClr val="tx1"/>
                </a:solidFill>
              </a:rPr>
              <a:t>Estimate orientation</a:t>
            </a:r>
            <a:endParaRPr lang="en-US" sz="1600" dirty="0"/>
          </a:p>
        </p:txBody>
      </p:sp>
      <p:sp>
        <p:nvSpPr>
          <p:cNvPr id="21" name="step-desc2"/>
          <p:cNvSpPr txBox="1"/>
          <p:nvPr/>
        </p:nvSpPr>
        <p:spPr>
          <a:xfrm>
            <a:off x="5266944" y="3246120"/>
            <a:ext cx="1645920" cy="1280160"/>
          </a:xfrm>
          <a:prstGeom prst="rect">
            <a:avLst/>
          </a:prstGeom>
          <a:noFill/>
          <a:ln/>
        </p:spPr>
        <p:txBody>
          <a:bodyPr wrap="square" lIns="0" tIns="0" rIns="0" bIns="0" rtlCol="0" anchor="t"/>
          <a:lstStyle/>
          <a:p>
            <a:pPr marL="0" indent="0">
              <a:buNone/>
            </a:pPr>
            <a:r>
              <a:rPr lang="en-US" sz="1400" dirty="0">
                <a:solidFill>
                  <a:schemeClr val="tx1"/>
                </a:solidFill>
              </a:rPr>
              <a:t>5%-damped SDOF response at 1 s gives the direction of maximum response</a:t>
            </a:r>
            <a:endParaRPr lang="en-US" sz="1400" dirty="0"/>
          </a:p>
        </p:txBody>
      </p:sp>
      <p:sp>
        <p:nvSpPr>
          <p:cNvPr id="22" name="arrow2"/>
          <p:cNvSpPr/>
          <p:nvPr/>
        </p:nvSpPr>
        <p:spPr>
          <a:xfrm>
            <a:off x="7114032" y="3063240"/>
            <a:ext cx="201168" cy="274320"/>
          </a:xfrm>
          <a:prstGeom prst="rightArrow">
            <a:avLst/>
          </a:prstGeom>
          <a:solidFill>
            <a:srgbClr val="F08A4B"/>
          </a:solidFill>
          <a:ln w="12700">
            <a:solidFill>
              <a:srgbClr val="F08A4B"/>
            </a:solidFill>
            <a:prstDash val="solid"/>
          </a:ln>
        </p:spPr>
      </p:sp>
      <p:sp>
        <p:nvSpPr>
          <p:cNvPr id="23" name="step-box3"/>
          <p:cNvSpPr/>
          <p:nvPr/>
        </p:nvSpPr>
        <p:spPr>
          <a:xfrm>
            <a:off x="7351776" y="1828800"/>
            <a:ext cx="1993392" cy="2788920"/>
          </a:xfrm>
          <a:prstGeom prst="roundRect">
            <a:avLst>
              <a:gd name="adj" fmla="val 4587"/>
            </a:avLst>
          </a:prstGeom>
          <a:solidFill>
            <a:schemeClr val="bg2"/>
          </a:solidFill>
          <a:ln w="12700">
            <a:solidFill>
              <a:schemeClr val="bg2"/>
            </a:solidFill>
            <a:prstDash val="solid"/>
          </a:ln>
        </p:spPr>
      </p:sp>
      <p:sp>
        <p:nvSpPr>
          <p:cNvPr id="24" name="step-num-bg3"/>
          <p:cNvSpPr/>
          <p:nvPr/>
        </p:nvSpPr>
        <p:spPr>
          <a:xfrm>
            <a:off x="7534656" y="2011680"/>
            <a:ext cx="457200" cy="457200"/>
          </a:xfrm>
          <a:prstGeom prst="ellipse">
            <a:avLst/>
          </a:prstGeom>
          <a:solidFill>
            <a:srgbClr val="B4472A"/>
          </a:solidFill>
          <a:ln w="12700">
            <a:solidFill>
              <a:srgbClr val="B4472A"/>
            </a:solidFill>
            <a:prstDash val="solid"/>
          </a:ln>
        </p:spPr>
      </p:sp>
      <p:sp>
        <p:nvSpPr>
          <p:cNvPr id="25" name="step-num3"/>
          <p:cNvSpPr txBox="1"/>
          <p:nvPr/>
        </p:nvSpPr>
        <p:spPr>
          <a:xfrm>
            <a:off x="7534656" y="20116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6" name="step-title3"/>
          <p:cNvSpPr txBox="1"/>
          <p:nvPr/>
        </p:nvSpPr>
        <p:spPr>
          <a:xfrm>
            <a:off x="7534656" y="2651760"/>
            <a:ext cx="1645920" cy="594360"/>
          </a:xfrm>
          <a:prstGeom prst="rect">
            <a:avLst/>
          </a:prstGeom>
          <a:noFill/>
          <a:ln/>
        </p:spPr>
        <p:txBody>
          <a:bodyPr wrap="square" lIns="0" tIns="0" rIns="0" bIns="0" rtlCol="0" anchor="t"/>
          <a:lstStyle/>
          <a:p>
            <a:pPr marL="0" indent="0">
              <a:buNone/>
            </a:pPr>
            <a:r>
              <a:rPr lang="en-US" sz="1600" b="1" dirty="0">
                <a:solidFill>
                  <a:schemeClr val="tx1"/>
                </a:solidFill>
              </a:rPr>
              <a:t>Match metadata</a:t>
            </a:r>
            <a:endParaRPr lang="en-US" sz="1600" dirty="0"/>
          </a:p>
        </p:txBody>
      </p:sp>
      <p:sp>
        <p:nvSpPr>
          <p:cNvPr id="27" name="step-desc3"/>
          <p:cNvSpPr txBox="1"/>
          <p:nvPr/>
        </p:nvSpPr>
        <p:spPr>
          <a:xfrm>
            <a:off x="7534656" y="3246120"/>
            <a:ext cx="1645920" cy="1280160"/>
          </a:xfrm>
          <a:prstGeom prst="rect">
            <a:avLst/>
          </a:prstGeom>
          <a:noFill/>
          <a:ln/>
        </p:spPr>
        <p:txBody>
          <a:bodyPr wrap="square" lIns="0" tIns="0" rIns="0" bIns="0" rtlCol="0" anchor="t"/>
          <a:lstStyle/>
          <a:p>
            <a:pPr marL="0" indent="0">
              <a:buNone/>
            </a:pPr>
            <a:r>
              <a:rPr lang="en-US" sz="1400" dirty="0">
                <a:solidFill>
                  <a:schemeClr val="tx1"/>
                </a:solidFill>
              </a:rPr>
              <a:t>Join each usable record to the NGA-West2 flatfile</a:t>
            </a:r>
            <a:endParaRPr lang="en-US" sz="1400" dirty="0"/>
          </a:p>
        </p:txBody>
      </p:sp>
      <p:sp>
        <p:nvSpPr>
          <p:cNvPr id="28" name="arrow3"/>
          <p:cNvSpPr/>
          <p:nvPr/>
        </p:nvSpPr>
        <p:spPr>
          <a:xfrm>
            <a:off x="9381744" y="3063240"/>
            <a:ext cx="201168" cy="274320"/>
          </a:xfrm>
          <a:prstGeom prst="rightArrow">
            <a:avLst/>
          </a:prstGeom>
          <a:solidFill>
            <a:srgbClr val="F08A4B"/>
          </a:solidFill>
          <a:ln w="12700">
            <a:solidFill>
              <a:srgbClr val="F08A4B"/>
            </a:solidFill>
            <a:prstDash val="solid"/>
          </a:ln>
        </p:spPr>
      </p:sp>
      <p:sp>
        <p:nvSpPr>
          <p:cNvPr id="29" name="step-box4"/>
          <p:cNvSpPr/>
          <p:nvPr/>
        </p:nvSpPr>
        <p:spPr>
          <a:xfrm>
            <a:off x="9619488" y="1828800"/>
            <a:ext cx="1993392" cy="2788920"/>
          </a:xfrm>
          <a:prstGeom prst="roundRect">
            <a:avLst>
              <a:gd name="adj" fmla="val 4587"/>
            </a:avLst>
          </a:prstGeom>
          <a:solidFill>
            <a:schemeClr val="bg2"/>
          </a:solidFill>
          <a:ln w="12700">
            <a:solidFill>
              <a:schemeClr val="bg2"/>
            </a:solidFill>
            <a:prstDash val="solid"/>
          </a:ln>
        </p:spPr>
      </p:sp>
      <p:sp>
        <p:nvSpPr>
          <p:cNvPr id="30" name="step-num-bg4"/>
          <p:cNvSpPr/>
          <p:nvPr/>
        </p:nvSpPr>
        <p:spPr>
          <a:xfrm>
            <a:off x="9802368" y="2011680"/>
            <a:ext cx="457200" cy="457200"/>
          </a:xfrm>
          <a:prstGeom prst="ellipse">
            <a:avLst/>
          </a:prstGeom>
          <a:solidFill>
            <a:srgbClr val="B4472A"/>
          </a:solidFill>
          <a:ln w="12700">
            <a:solidFill>
              <a:srgbClr val="B4472A"/>
            </a:solidFill>
            <a:prstDash val="solid"/>
          </a:ln>
        </p:spPr>
      </p:sp>
      <p:sp>
        <p:nvSpPr>
          <p:cNvPr id="31" name="step-num4"/>
          <p:cNvSpPr txBox="1"/>
          <p:nvPr/>
        </p:nvSpPr>
        <p:spPr>
          <a:xfrm>
            <a:off x="9802368" y="20116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32" name="step-title4"/>
          <p:cNvSpPr txBox="1"/>
          <p:nvPr/>
        </p:nvSpPr>
        <p:spPr>
          <a:xfrm>
            <a:off x="9802368" y="2651760"/>
            <a:ext cx="1645920" cy="594360"/>
          </a:xfrm>
          <a:prstGeom prst="rect">
            <a:avLst/>
          </a:prstGeom>
          <a:noFill/>
          <a:ln/>
        </p:spPr>
        <p:txBody>
          <a:bodyPr wrap="square" lIns="0" tIns="0" rIns="0" bIns="0" rtlCol="0" anchor="t"/>
          <a:lstStyle/>
          <a:p>
            <a:pPr marL="0" indent="0">
              <a:buNone/>
            </a:pPr>
            <a:r>
              <a:rPr lang="en-US" sz="1600" b="1" dirty="0">
                <a:solidFill>
                  <a:schemeClr val="tx1"/>
                </a:solidFill>
              </a:rPr>
              <a:t>Build pairs</a:t>
            </a:r>
            <a:endParaRPr lang="en-US" sz="1600" dirty="0"/>
          </a:p>
        </p:txBody>
      </p:sp>
      <p:sp>
        <p:nvSpPr>
          <p:cNvPr id="33" name="step-desc4"/>
          <p:cNvSpPr txBox="1"/>
          <p:nvPr/>
        </p:nvSpPr>
        <p:spPr>
          <a:xfrm>
            <a:off x="9802368" y="3246120"/>
            <a:ext cx="1645920" cy="1280160"/>
          </a:xfrm>
          <a:prstGeom prst="rect">
            <a:avLst/>
          </a:prstGeom>
          <a:noFill/>
          <a:ln/>
        </p:spPr>
        <p:txBody>
          <a:bodyPr wrap="square" lIns="0" tIns="0" rIns="0" bIns="0" rtlCol="0" anchor="t"/>
          <a:lstStyle/>
          <a:p>
            <a:pPr marL="0" indent="0">
              <a:buNone/>
            </a:pPr>
            <a:r>
              <a:rPr lang="en-US" sz="1400" dirty="0">
                <a:solidFill>
                  <a:schemeClr val="tx1"/>
                </a:solidFill>
              </a:rPr>
              <a:t>Form same-earthquake station pairs and compute Δθ in 0°–90°</a:t>
            </a:r>
            <a:endParaRPr lang="en-US" sz="1400" dirty="0"/>
          </a:p>
        </p:txBody>
      </p:sp>
      <p:sp>
        <p:nvSpPr>
          <p:cNvPr id="34" name="code-card"/>
          <p:cNvSpPr txBox="1"/>
          <p:nvPr/>
        </p:nvSpPr>
        <p:spPr>
          <a:xfrm>
            <a:off x="548640" y="4892040"/>
            <a:ext cx="11091672" cy="1234440"/>
          </a:xfrm>
          <a:prstGeom prst="roundRect">
            <a:avLst>
              <a:gd name="adj" fmla="val 7407"/>
            </a:avLst>
          </a:prstGeom>
          <a:solidFill>
            <a:schemeClr val="bg2"/>
          </a:solidFill>
          <a:ln/>
        </p:spPr>
        <p:txBody>
          <a:bodyPr wrap="square" lIns="177800" tIns="177800" rIns="177800" bIns="177800" rtlCol="0" anchor="ctr"/>
          <a:lstStyle/>
          <a:p>
            <a:pPr marL="0" indent="0">
              <a:spcAft>
                <a:spcPts val="400"/>
              </a:spcAft>
              <a:buNone/>
            </a:pPr>
            <a:r>
              <a:rPr lang="en-US" sz="1300" b="1" dirty="0">
                <a:solidFill>
                  <a:schemeClr val="accent5"/>
                </a:solidFill>
              </a:rPr>
              <a:t>MODULAR CODE</a:t>
            </a:r>
            <a:endParaRPr lang="en-US" sz="1500" dirty="0"/>
          </a:p>
          <a:p>
            <a:pPr marL="0" indent="0">
              <a:spcAft>
                <a:spcPts val="400"/>
              </a:spcAft>
              <a:buNone/>
            </a:pPr>
            <a:r>
              <a:rPr lang="en-US" sz="1600" dirty="0">
                <a:solidFill>
                  <a:schemeClr val="tx1"/>
                </a:solidFill>
                <a:latin typeface="Courier New" pitchFamily="34" charset="0"/>
                <a:ea typeface="Courier New" pitchFamily="34" charset="-122"/>
                <a:cs typeface="Courier New" pitchFamily="34" charset="-120"/>
              </a:rPr>
              <a:t>records.py → waveforms.py → metadata.py → pairs.py → models.py</a:t>
            </a:r>
            <a:endParaRPr lang="en-US" sz="1500" dirty="0"/>
          </a:p>
          <a:p>
            <a:pPr marL="0" indent="0">
              <a:buNone/>
            </a:pPr>
            <a:r>
              <a:rPr lang="en-US" sz="1500" dirty="0">
                <a:solidFill>
                  <a:schemeClr val="tx1"/>
                </a:solidFill>
              </a:rPr>
              <a:t>One file per stage in src/, orchestrated end to end by pipeline.py</a:t>
            </a:r>
            <a:endParaRPr lang="en-US" sz="1500" dirty="0"/>
          </a:p>
        </p:txBody>
      </p:sp>
      <p:sp>
        <p:nvSpPr>
          <p:cNvPr id="4"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320040"/>
          </a:xfrm>
          <a:prstGeom prst="rect">
            <a:avLst/>
          </a:prstGeom>
          <a:noFill/>
          <a:ln/>
        </p:spPr>
        <p:txBody>
          <a:bodyPr wrap="square" lIns="0" tIns="0" rIns="0" bIns="0" rtlCol="0" anchor="t"/>
          <a:lstStyle/>
          <a:p>
            <a:pPr marL="0" indent="0">
              <a:buNone/>
            </a:pPr>
            <a:r>
              <a:rPr lang="en-US" sz="1300" b="1" dirty="0">
                <a:solidFill>
                  <a:schemeClr val="accent1"/>
                </a:solidFill>
              </a:rPr>
              <a:t>05  ·  TARGET</a:t>
            </a:r>
            <a:endParaRPr lang="en-US" sz="1300" dirty="0"/>
          </a:p>
        </p:txBody>
      </p:sp>
      <p:sp>
        <p:nvSpPr>
          <p:cNvPr id="3" name="Text 0"/>
          <p:cNvSpPr>
            <a:spLocks noGrp="1"/>
          </p:cNvSpPr>
          <p:nvPr>
            <p:ph type="title" idx="101" hasCustomPrompt="1"/>
          </p:nvPr>
        </p:nvSpPr>
        <p:spPr>
          <a:xfrm>
            <a:off x="548640" y="658368"/>
            <a:ext cx="11091672" cy="960120"/>
          </a:xfrm>
          <a:prstGeom prst="rect">
            <a:avLst/>
          </a:prstGeom>
          <a:noFill/>
          <a:ln/>
        </p:spPr>
        <p:txBody>
          <a:bodyPr wrap="square" lIns="0" tIns="0" rIns="0" bIns="0" rtlCol="0" anchor="t"/>
          <a:lstStyle/>
          <a:p>
            <a:pPr marL="0" indent="0" algn="l">
              <a:buNone/>
            </a:pPr>
            <a:r>
              <a:rPr lang="en-US" sz="3200" b="1" dirty="0">
                <a:solidFill>
                  <a:schemeClr val="bg1"/>
                </a:solidFill>
              </a:rPr>
              <a:t>Δθ is the axial angle between two stations' orientations</a:t>
            </a:r>
            <a:endParaRPr lang="en-US" sz="3200" dirty="0"/>
          </a:p>
        </p:txBody>
      </p:sp>
      <p:sp>
        <p:nvSpPr>
          <p:cNvPr id="5" name="diagram-card"/>
          <p:cNvSpPr/>
          <p:nvPr/>
        </p:nvSpPr>
        <p:spPr>
          <a:xfrm>
            <a:off x="548640" y="1828800"/>
            <a:ext cx="5852160" cy="4297680"/>
          </a:xfrm>
          <a:prstGeom prst="roundRect">
            <a:avLst>
              <a:gd name="adj" fmla="val 2128"/>
            </a:avLst>
          </a:prstGeom>
          <a:solidFill>
            <a:schemeClr val="bg2"/>
          </a:solidFill>
          <a:ln w="12700">
            <a:solidFill>
              <a:schemeClr val="bg2"/>
            </a:solidFill>
            <a:prstDash val="solid"/>
          </a:ln>
        </p:spPr>
      </p:sp>
      <p:sp>
        <p:nvSpPr>
          <p:cNvPr id="6" name="delta-ref"/>
          <p:cNvSpPr/>
          <p:nvPr/>
        </p:nvSpPr>
        <p:spPr>
          <a:xfrm>
            <a:off x="2743200" y="4754880"/>
            <a:ext cx="3154680" cy="0"/>
          </a:xfrm>
          <a:prstGeom prst="line">
            <a:avLst/>
          </a:prstGeom>
          <a:noFill/>
          <a:ln w="19050">
            <a:solidFill>
              <a:srgbClr val="1F2A21"/>
            </a:solidFill>
            <a:prstDash val="dash"/>
          </a:ln>
        </p:spPr>
      </p:sp>
      <p:sp>
        <p:nvSpPr>
          <p:cNvPr id="7" name="delta-axisA"/>
          <p:cNvSpPr/>
          <p:nvPr/>
        </p:nvSpPr>
        <p:spPr>
          <a:xfrm flipV="1">
            <a:off x="1832522" y="3282696"/>
            <a:ext cx="3460575" cy="1997964"/>
          </a:xfrm>
          <a:prstGeom prst="line">
            <a:avLst/>
          </a:prstGeom>
          <a:noFill/>
          <a:ln w="50800">
            <a:solidFill>
              <a:srgbClr val="B4472A"/>
            </a:solidFill>
            <a:prstDash val="solid"/>
          </a:ln>
        </p:spPr>
      </p:sp>
      <p:sp>
        <p:nvSpPr>
          <p:cNvPr id="8" name="delta-axisB"/>
          <p:cNvSpPr/>
          <p:nvPr/>
        </p:nvSpPr>
        <p:spPr>
          <a:xfrm flipV="1">
            <a:off x="2471036" y="2418703"/>
            <a:ext cx="898140" cy="3351906"/>
          </a:xfrm>
          <a:prstGeom prst="line">
            <a:avLst/>
          </a:prstGeom>
          <a:noFill/>
          <a:ln w="50800">
            <a:solidFill>
              <a:srgbClr val="4F6C57"/>
            </a:solidFill>
            <a:prstDash val="solid"/>
          </a:ln>
        </p:spPr>
      </p:sp>
      <p:sp>
        <p:nvSpPr>
          <p:cNvPr id="9" name="delta-arc0"/>
          <p:cNvSpPr/>
          <p:nvPr/>
        </p:nvSpPr>
        <p:spPr>
          <a:xfrm>
            <a:off x="3754929" y="4092463"/>
            <a:ext cx="35550" cy="57770"/>
          </a:xfrm>
          <a:prstGeom prst="line">
            <a:avLst/>
          </a:prstGeom>
          <a:noFill/>
          <a:ln w="31750">
            <a:solidFill>
              <a:srgbClr val="1F2A21"/>
            </a:solidFill>
            <a:prstDash val="solid"/>
          </a:ln>
        </p:spPr>
      </p:sp>
      <p:sp>
        <p:nvSpPr>
          <p:cNvPr id="10" name="delta-arc1"/>
          <p:cNvSpPr/>
          <p:nvPr/>
        </p:nvSpPr>
        <p:spPr>
          <a:xfrm>
            <a:off x="3716195" y="4036777"/>
            <a:ext cx="38734" cy="55686"/>
          </a:xfrm>
          <a:prstGeom prst="line">
            <a:avLst/>
          </a:prstGeom>
          <a:noFill/>
          <a:ln w="31750">
            <a:solidFill>
              <a:srgbClr val="1F2A21"/>
            </a:solidFill>
            <a:prstDash val="solid"/>
          </a:ln>
        </p:spPr>
      </p:sp>
      <p:sp>
        <p:nvSpPr>
          <p:cNvPr id="11" name="delta-arc2"/>
          <p:cNvSpPr/>
          <p:nvPr/>
        </p:nvSpPr>
        <p:spPr>
          <a:xfrm>
            <a:off x="3674400" y="3983350"/>
            <a:ext cx="41795" cy="53427"/>
          </a:xfrm>
          <a:prstGeom prst="line">
            <a:avLst/>
          </a:prstGeom>
          <a:noFill/>
          <a:ln w="31750">
            <a:solidFill>
              <a:srgbClr val="1F2A21"/>
            </a:solidFill>
            <a:prstDash val="solid"/>
          </a:ln>
        </p:spPr>
      </p:sp>
      <p:sp>
        <p:nvSpPr>
          <p:cNvPr id="12" name="delta-arc3"/>
          <p:cNvSpPr/>
          <p:nvPr/>
        </p:nvSpPr>
        <p:spPr>
          <a:xfrm>
            <a:off x="3629675" y="3932351"/>
            <a:ext cx="44725" cy="50999"/>
          </a:xfrm>
          <a:prstGeom prst="line">
            <a:avLst/>
          </a:prstGeom>
          <a:noFill/>
          <a:ln w="31750">
            <a:solidFill>
              <a:srgbClr val="1F2A21"/>
            </a:solidFill>
            <a:prstDash val="solid"/>
          </a:ln>
        </p:spPr>
      </p:sp>
      <p:sp>
        <p:nvSpPr>
          <p:cNvPr id="13" name="delta-arc4"/>
          <p:cNvSpPr/>
          <p:nvPr/>
        </p:nvSpPr>
        <p:spPr>
          <a:xfrm>
            <a:off x="3582161" y="3883940"/>
            <a:ext cx="47514" cy="48411"/>
          </a:xfrm>
          <a:prstGeom prst="line">
            <a:avLst/>
          </a:prstGeom>
          <a:noFill/>
          <a:ln w="31750">
            <a:solidFill>
              <a:srgbClr val="1F2A21"/>
            </a:solidFill>
            <a:prstDash val="solid"/>
          </a:ln>
        </p:spPr>
      </p:sp>
      <p:sp>
        <p:nvSpPr>
          <p:cNvPr id="14" name="delta-arc5"/>
          <p:cNvSpPr/>
          <p:nvPr/>
        </p:nvSpPr>
        <p:spPr>
          <a:xfrm>
            <a:off x="3532007" y="3838269"/>
            <a:ext cx="50154" cy="45671"/>
          </a:xfrm>
          <a:prstGeom prst="line">
            <a:avLst/>
          </a:prstGeom>
          <a:noFill/>
          <a:ln w="31750">
            <a:solidFill>
              <a:srgbClr val="1F2A21"/>
            </a:solidFill>
            <a:prstDash val="solid"/>
          </a:ln>
        </p:spPr>
      </p:sp>
      <p:sp>
        <p:nvSpPr>
          <p:cNvPr id="15" name="delta-arc6"/>
          <p:cNvSpPr/>
          <p:nvPr/>
        </p:nvSpPr>
        <p:spPr>
          <a:xfrm>
            <a:off x="3479372" y="3795483"/>
            <a:ext cx="52636" cy="42787"/>
          </a:xfrm>
          <a:prstGeom prst="line">
            <a:avLst/>
          </a:prstGeom>
          <a:noFill/>
          <a:ln w="31750">
            <a:solidFill>
              <a:srgbClr val="1F2A21"/>
            </a:solidFill>
            <a:prstDash val="solid"/>
          </a:ln>
        </p:spPr>
      </p:sp>
      <p:sp>
        <p:nvSpPr>
          <p:cNvPr id="16" name="delta-arc7"/>
          <p:cNvSpPr/>
          <p:nvPr/>
        </p:nvSpPr>
        <p:spPr>
          <a:xfrm>
            <a:off x="3424420" y="3755714"/>
            <a:ext cx="54952" cy="39768"/>
          </a:xfrm>
          <a:prstGeom prst="line">
            <a:avLst/>
          </a:prstGeom>
          <a:noFill/>
          <a:ln w="31750">
            <a:solidFill>
              <a:srgbClr val="1F2A21"/>
            </a:solidFill>
            <a:prstDash val="solid"/>
          </a:ln>
        </p:spPr>
      </p:sp>
      <p:sp>
        <p:nvSpPr>
          <p:cNvPr id="17" name="delta-arc8"/>
          <p:cNvSpPr/>
          <p:nvPr/>
        </p:nvSpPr>
        <p:spPr>
          <a:xfrm>
            <a:off x="3367324" y="3719090"/>
            <a:ext cx="57095" cy="36624"/>
          </a:xfrm>
          <a:prstGeom prst="line">
            <a:avLst/>
          </a:prstGeom>
          <a:noFill/>
          <a:ln w="31750">
            <a:solidFill>
              <a:srgbClr val="1F2A21"/>
            </a:solidFill>
            <a:prstDash val="solid"/>
          </a:ln>
        </p:spPr>
      </p:sp>
      <p:sp>
        <p:nvSpPr>
          <p:cNvPr id="18" name="delta-arc9"/>
          <p:cNvSpPr/>
          <p:nvPr/>
        </p:nvSpPr>
        <p:spPr>
          <a:xfrm>
            <a:off x="3308265" y="3685725"/>
            <a:ext cx="59059" cy="33365"/>
          </a:xfrm>
          <a:prstGeom prst="line">
            <a:avLst/>
          </a:prstGeom>
          <a:noFill/>
          <a:ln w="31750">
            <a:solidFill>
              <a:srgbClr val="1F2A21"/>
            </a:solidFill>
            <a:prstDash val="solid"/>
          </a:ln>
        </p:spPr>
      </p:sp>
      <p:sp>
        <p:nvSpPr>
          <p:cNvPr id="19" name="delta-arc10"/>
          <p:cNvSpPr/>
          <p:nvPr/>
        </p:nvSpPr>
        <p:spPr>
          <a:xfrm>
            <a:off x="3247428" y="3655723"/>
            <a:ext cx="60837" cy="30001"/>
          </a:xfrm>
          <a:prstGeom prst="line">
            <a:avLst/>
          </a:prstGeom>
          <a:noFill/>
          <a:ln w="31750">
            <a:solidFill>
              <a:srgbClr val="1F2A21"/>
            </a:solidFill>
            <a:prstDash val="solid"/>
          </a:ln>
        </p:spPr>
      </p:sp>
      <p:sp>
        <p:nvSpPr>
          <p:cNvPr id="20" name="delta-arc11"/>
          <p:cNvSpPr/>
          <p:nvPr/>
        </p:nvSpPr>
        <p:spPr>
          <a:xfrm>
            <a:off x="3185005" y="3629180"/>
            <a:ext cx="62423" cy="26543"/>
          </a:xfrm>
          <a:prstGeom prst="line">
            <a:avLst/>
          </a:prstGeom>
          <a:noFill/>
          <a:ln w="31750">
            <a:solidFill>
              <a:srgbClr val="1F2A21"/>
            </a:solidFill>
            <a:prstDash val="solid"/>
          </a:ln>
        </p:spPr>
      </p:sp>
      <p:sp>
        <p:nvSpPr>
          <p:cNvPr id="21" name="delta-arc12"/>
          <p:cNvSpPr/>
          <p:nvPr/>
        </p:nvSpPr>
        <p:spPr>
          <a:xfrm>
            <a:off x="3121191" y="3606179"/>
            <a:ext cx="63814" cy="23001"/>
          </a:xfrm>
          <a:prstGeom prst="line">
            <a:avLst/>
          </a:prstGeom>
          <a:noFill/>
          <a:ln w="31750">
            <a:solidFill>
              <a:srgbClr val="1F2A21"/>
            </a:solidFill>
            <a:prstDash val="solid"/>
          </a:ln>
        </p:spPr>
      </p:sp>
      <p:sp>
        <p:nvSpPr>
          <p:cNvPr id="22" name="delta-arc13"/>
          <p:cNvSpPr/>
          <p:nvPr/>
        </p:nvSpPr>
        <p:spPr>
          <a:xfrm>
            <a:off x="3056188" y="3586792"/>
            <a:ext cx="65003" cy="19387"/>
          </a:xfrm>
          <a:prstGeom prst="line">
            <a:avLst/>
          </a:prstGeom>
          <a:noFill/>
          <a:ln w="31750">
            <a:solidFill>
              <a:srgbClr val="1F2A21"/>
            </a:solidFill>
            <a:prstDash val="solid"/>
          </a:ln>
        </p:spPr>
      </p:sp>
      <p:sp>
        <p:nvSpPr>
          <p:cNvPr id="23" name="delta-origin"/>
          <p:cNvSpPr/>
          <p:nvPr/>
        </p:nvSpPr>
        <p:spPr>
          <a:xfrm>
            <a:off x="2660904" y="4672584"/>
            <a:ext cx="164592" cy="164592"/>
          </a:xfrm>
          <a:prstGeom prst="ellipse">
            <a:avLst/>
          </a:prstGeom>
          <a:solidFill>
            <a:srgbClr val="1F2A21"/>
          </a:solidFill>
          <a:ln w="12700">
            <a:solidFill>
              <a:srgbClr val="1F2A21"/>
            </a:solidFill>
            <a:prstDash val="solid"/>
          </a:ln>
        </p:spPr>
      </p:sp>
      <p:sp>
        <p:nvSpPr>
          <p:cNvPr id="24" name="lblA"/>
          <p:cNvSpPr txBox="1"/>
          <p:nvPr/>
        </p:nvSpPr>
        <p:spPr>
          <a:xfrm>
            <a:off x="4572000" y="2743200"/>
            <a:ext cx="1783080" cy="502920"/>
          </a:xfrm>
          <a:prstGeom prst="rect">
            <a:avLst/>
          </a:prstGeom>
          <a:noFill/>
          <a:ln/>
        </p:spPr>
        <p:txBody>
          <a:bodyPr wrap="square" lIns="0" tIns="0" rIns="0" bIns="0" rtlCol="0" anchor="t"/>
          <a:lstStyle/>
          <a:p>
            <a:pPr marL="0" indent="0">
              <a:buNone/>
            </a:pPr>
            <a:r>
              <a:rPr lang="en-US" sz="1500" b="1" dirty="0">
                <a:solidFill>
                  <a:schemeClr val="accent5"/>
                </a:solidFill>
              </a:rPr>
              <a:t>Station A: θA = 30°</a:t>
            </a:r>
            <a:endParaRPr lang="en-US" sz="1500" dirty="0"/>
          </a:p>
        </p:txBody>
      </p:sp>
      <p:sp>
        <p:nvSpPr>
          <p:cNvPr id="25" name="lblB"/>
          <p:cNvSpPr txBox="1"/>
          <p:nvPr/>
        </p:nvSpPr>
        <p:spPr>
          <a:xfrm>
            <a:off x="3520440" y="1965960"/>
            <a:ext cx="2377440" cy="320040"/>
          </a:xfrm>
          <a:prstGeom prst="rect">
            <a:avLst/>
          </a:prstGeom>
          <a:noFill/>
          <a:ln/>
        </p:spPr>
        <p:txBody>
          <a:bodyPr wrap="square" lIns="0" tIns="0" rIns="0" bIns="0" rtlCol="0" anchor="t"/>
          <a:lstStyle/>
          <a:p>
            <a:pPr marL="0" indent="0">
              <a:buNone/>
            </a:pPr>
            <a:r>
              <a:rPr lang="en-US" sz="1500" b="1" dirty="0">
                <a:solidFill>
                  <a:schemeClr val="accent4"/>
                </a:solidFill>
              </a:rPr>
              <a:t>Station B: θB = 75°</a:t>
            </a:r>
            <a:endParaRPr lang="en-US" sz="1500" dirty="0"/>
          </a:p>
        </p:txBody>
      </p:sp>
      <p:sp>
        <p:nvSpPr>
          <p:cNvPr id="26" name="lblD"/>
          <p:cNvSpPr txBox="1"/>
          <p:nvPr/>
        </p:nvSpPr>
        <p:spPr>
          <a:xfrm>
            <a:off x="3474720" y="3200400"/>
            <a:ext cx="1280160" cy="365760"/>
          </a:xfrm>
          <a:prstGeom prst="rect">
            <a:avLst/>
          </a:prstGeom>
          <a:noFill/>
          <a:ln/>
        </p:spPr>
        <p:txBody>
          <a:bodyPr wrap="square" lIns="0" tIns="0" rIns="0" bIns="0" rtlCol="0" anchor="t"/>
          <a:lstStyle/>
          <a:p>
            <a:pPr marL="0" indent="0">
              <a:buNone/>
            </a:pPr>
            <a:r>
              <a:rPr lang="en-US" sz="1800" b="1" dirty="0">
                <a:solidFill>
                  <a:schemeClr val="tx1"/>
                </a:solidFill>
              </a:rPr>
              <a:t>Δθ = 45°</a:t>
            </a:r>
            <a:endParaRPr lang="en-US" sz="1800" dirty="0"/>
          </a:p>
        </p:txBody>
      </p:sp>
      <p:sp>
        <p:nvSpPr>
          <p:cNvPr id="27" name="lblRef"/>
          <p:cNvSpPr txBox="1"/>
          <p:nvPr/>
        </p:nvSpPr>
        <p:spPr>
          <a:xfrm>
            <a:off x="4023360" y="4846320"/>
            <a:ext cx="2194560" cy="274320"/>
          </a:xfrm>
          <a:prstGeom prst="rect">
            <a:avLst/>
          </a:prstGeom>
          <a:noFill/>
          <a:ln/>
        </p:spPr>
        <p:txBody>
          <a:bodyPr wrap="square" lIns="0" tIns="0" rIns="0" bIns="0" rtlCol="0" anchor="t"/>
          <a:lstStyle/>
          <a:p>
            <a:pPr marL="0" indent="0">
              <a:buNone/>
            </a:pPr>
            <a:r>
              <a:rPr lang="en-US" sz="1300" i="1" dirty="0">
                <a:solidFill>
                  <a:schemeClr val="tx1"/>
                </a:solidFill>
              </a:rPr>
              <a:t>reference axis (east)</a:t>
            </a:r>
            <a:endParaRPr lang="en-US" sz="1300" dirty="0"/>
          </a:p>
        </p:txBody>
      </p:sp>
      <p:sp>
        <p:nvSpPr>
          <p:cNvPr id="28" name="lblIll"/>
          <p:cNvSpPr txBox="1"/>
          <p:nvPr/>
        </p:nvSpPr>
        <p:spPr>
          <a:xfrm>
            <a:off x="4206240" y="5760720"/>
            <a:ext cx="2011680" cy="274320"/>
          </a:xfrm>
          <a:prstGeom prst="rect">
            <a:avLst/>
          </a:prstGeom>
          <a:noFill/>
          <a:ln/>
        </p:spPr>
        <p:txBody>
          <a:bodyPr wrap="square" lIns="0" tIns="0" rIns="0" bIns="0" rtlCol="0" anchor="t"/>
          <a:lstStyle/>
          <a:p>
            <a:pPr marL="0" indent="0">
              <a:buNone/>
            </a:pPr>
            <a:r>
              <a:rPr lang="en-US" sz="1200" i="1" dirty="0">
                <a:solidFill>
                  <a:schemeClr val="tx1"/>
                </a:solidFill>
              </a:rPr>
              <a:t>Illustrative angles</a:t>
            </a:r>
            <a:endParaRPr lang="en-US" sz="1200" dirty="0"/>
          </a:p>
        </p:txBody>
      </p:sp>
      <p:sp>
        <p:nvSpPr>
          <p:cNvPr id="29" name="def-card"/>
          <p:cNvSpPr txBox="1"/>
          <p:nvPr/>
        </p:nvSpPr>
        <p:spPr>
          <a:xfrm>
            <a:off x="6675120" y="1828800"/>
            <a:ext cx="4965192" cy="4297680"/>
          </a:xfrm>
          <a:prstGeom prst="roundRect">
            <a:avLst>
              <a:gd name="adj" fmla="val 2128"/>
            </a:avLst>
          </a:prstGeom>
          <a:solidFill>
            <a:schemeClr val="bg2"/>
          </a:solidFill>
          <a:ln/>
        </p:spPr>
        <p:txBody>
          <a:bodyPr wrap="square" lIns="177800" tIns="177800" rIns="177800" bIns="177800" rtlCol="0" anchor="t"/>
          <a:lstStyle/>
          <a:p>
            <a:pPr marL="0" indent="0">
              <a:spcAft>
                <a:spcPts val="400"/>
              </a:spcAft>
              <a:buNone/>
            </a:pPr>
            <a:r>
              <a:rPr lang="en-US" sz="1300" b="1" dirty="0">
                <a:solidFill>
                  <a:schemeClr val="accent5"/>
                </a:solidFill>
              </a:rPr>
              <a:t>DEFINITION</a:t>
            </a:r>
            <a:endParaRPr lang="en-US" sz="1500" dirty="0"/>
          </a:p>
          <a:p>
            <a:pPr marL="0" indent="0">
              <a:spcAft>
                <a:spcPts val="200"/>
              </a:spcAft>
              <a:buNone/>
            </a:pPr>
            <a:r>
              <a:rPr lang="en-US" sz="2400" b="1" dirty="0">
                <a:solidFill>
                  <a:schemeClr val="tx1"/>
                </a:solidFill>
                <a:latin typeface="+mj-lt" pitchFamily="34" charset="0"/>
                <a:ea typeface="+mj-lt" pitchFamily="34" charset="-122"/>
                <a:cs typeface="+mj-lt" pitchFamily="34" charset="-120"/>
              </a:rPr>
              <a:t>Δθ = min( d , 180° − d )</a:t>
            </a:r>
            <a:endParaRPr lang="en-US" sz="1500" dirty="0"/>
          </a:p>
          <a:p>
            <a:pPr marL="0" indent="0">
              <a:spcAft>
                <a:spcPts val="1200"/>
              </a:spcAft>
              <a:buNone/>
            </a:pPr>
            <a:r>
              <a:rPr lang="en-US" sz="2000" dirty="0">
                <a:solidFill>
                  <a:schemeClr val="tx1"/>
                </a:solidFill>
                <a:latin typeface="+mj-lt" pitchFamily="34" charset="0"/>
                <a:ea typeface="+mj-lt" pitchFamily="34" charset="-122"/>
                <a:cs typeface="+mj-lt" pitchFamily="34" charset="-120"/>
              </a:rPr>
              <a:t>d = | θA − θB | mod 180°</a:t>
            </a:r>
            <a:endParaRPr lang="en-US" sz="1500" dirty="0"/>
          </a:p>
          <a:p>
            <a:pPr marL="203200" indent="-203200">
              <a:spcAft>
                <a:spcPts val="700"/>
              </a:spcAft>
              <a:buSzPct val="100000"/>
              <a:buChar char="•"/>
            </a:pPr>
            <a:r>
              <a:rPr lang="en-US" sz="1500" dirty="0">
                <a:solidFill>
                  <a:schemeClr val="tx1"/>
                </a:solidFill>
              </a:rPr>
              <a:t>θ is the orientation of maximum response at a station</a:t>
            </a:r>
            <a:endParaRPr lang="en-US" sz="1500" dirty="0"/>
          </a:p>
          <a:p>
            <a:pPr marL="203200" indent="-203200">
              <a:spcAft>
                <a:spcPts val="700"/>
              </a:spcAft>
              <a:buSzPct val="100000"/>
              <a:buChar char="•"/>
            </a:pPr>
            <a:r>
              <a:rPr lang="en-US" sz="1500" dirty="0">
                <a:solidFill>
                  <a:schemeClr val="tx1"/>
                </a:solidFill>
              </a:rPr>
              <a:t>Axial: θ and θ + 180° are the same orientation, so Δθ stays between 0° and 90°</a:t>
            </a:r>
            <a:endParaRPr lang="en-US" sz="1500" dirty="0"/>
          </a:p>
          <a:p>
            <a:pPr marL="203200" indent="-203200">
              <a:spcAft>
                <a:spcPts val="700"/>
              </a:spcAft>
              <a:buSzPct val="100000"/>
              <a:buChar char="•"/>
            </a:pPr>
            <a:r>
              <a:rPr lang="en-US" sz="1500" dirty="0">
                <a:solidFill>
                  <a:schemeClr val="tx1"/>
                </a:solidFill>
              </a:rPr>
              <a:t>Δθ = 0° means the same direction; 90° means perpendicular</a:t>
            </a:r>
            <a:endParaRPr lang="en-US" sz="1500" dirty="0"/>
          </a:p>
          <a:p>
            <a:pPr marL="203200" indent="-203200">
              <a:spcAft>
                <a:spcPts val="700"/>
              </a:spcAft>
              <a:buSzPct val="100000"/>
              <a:buChar char="•"/>
            </a:pPr>
            <a:r>
              <a:rPr lang="en-US" sz="1500" dirty="0">
                <a:solidFill>
                  <a:schemeClr val="tx1"/>
                </a:solidFill>
              </a:rPr>
              <a:t>Example: θA = 30°, θB = 75° gives d = 45°, so Δθ = 45°</a:t>
            </a:r>
            <a:endParaRPr lang="en-US" sz="1500" dirty="0"/>
          </a:p>
          <a:p>
            <a:pPr marL="203200" indent="-203200">
              <a:spcAft>
                <a:spcPts val="700"/>
              </a:spcAft>
              <a:buSzPct val="100000"/>
              <a:buChar char="•"/>
            </a:pPr>
            <a:r>
              <a:rPr lang="en-US" sz="1500" dirty="0">
                <a:solidFill>
                  <a:schemeClr val="tx1"/>
                </a:solidFill>
              </a:rPr>
              <a:t>Folding: θA = 10°, θB = 170° gives d = 160°, so Δθ = 20°</a:t>
            </a:r>
            <a:endParaRPr lang="en-US" sz="1500" dirty="0"/>
          </a:p>
        </p:txBody>
      </p:sp>
      <p:sp>
        <p:nvSpPr>
          <p:cNvPr id="4"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320040"/>
          </a:xfrm>
          <a:prstGeom prst="rect">
            <a:avLst/>
          </a:prstGeom>
          <a:noFill/>
          <a:ln/>
        </p:spPr>
        <p:txBody>
          <a:bodyPr wrap="square" lIns="0" tIns="0" rIns="0" bIns="0" rtlCol="0" anchor="t"/>
          <a:lstStyle/>
          <a:p>
            <a:pPr marL="0" indent="0">
              <a:buNone/>
            </a:pPr>
            <a:r>
              <a:rPr lang="en-US" sz="1300" b="1" dirty="0">
                <a:solidFill>
                  <a:schemeClr val="accent1"/>
                </a:solidFill>
              </a:rPr>
              <a:t>06  ·  EXPERIMENTS</a:t>
            </a:r>
            <a:endParaRPr lang="en-US" sz="1300" dirty="0"/>
          </a:p>
        </p:txBody>
      </p:sp>
      <p:sp>
        <p:nvSpPr>
          <p:cNvPr id="3" name="Text 0"/>
          <p:cNvSpPr>
            <a:spLocks noGrp="1"/>
          </p:cNvSpPr>
          <p:nvPr>
            <p:ph type="title" idx="101" hasCustomPrompt="1"/>
          </p:nvPr>
        </p:nvSpPr>
        <p:spPr>
          <a:xfrm>
            <a:off x="548640" y="658368"/>
            <a:ext cx="11091672" cy="960120"/>
          </a:xfrm>
          <a:prstGeom prst="rect">
            <a:avLst/>
          </a:prstGeom>
          <a:noFill/>
          <a:ln/>
        </p:spPr>
        <p:txBody>
          <a:bodyPr wrap="square" lIns="0" tIns="0" rIns="0" bIns="0" rtlCol="0" anchor="t"/>
          <a:lstStyle/>
          <a:p>
            <a:pPr marL="0" indent="0" algn="l">
              <a:buNone/>
            </a:pPr>
            <a:r>
              <a:rPr lang="en-US" sz="3200" b="1" dirty="0">
                <a:solidFill>
                  <a:schemeClr val="bg1"/>
                </a:solidFill>
              </a:rPr>
              <a:t>Three evaluation settings and three models</a:t>
            </a:r>
            <a:endParaRPr lang="en-US" sz="3200" dirty="0"/>
          </a:p>
        </p:txBody>
      </p:sp>
      <p:graphicFrame>
        <p:nvGraphicFramePr>
          <p:cNvPr id="8" name="settings-table"/>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914400"/>
        </p:xfrm>
        <a:graphic>
          <a:graphicData uri="http://schemas.openxmlformats.org/drawingml/2006/table">
            <a:tbl>
              <a:tblPr/>
              <a:tblGrid>
                <a:gridCol w="28346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587752">
                  <a:extLst>
                    <a:ext uri="{9D8B030D-6E8A-4147-A177-3AD203B41FA5}">
                      <a16:colId xmlns:a16="http://schemas.microsoft.com/office/drawing/2014/main" val="20003"/>
                    </a:ext>
                  </a:extLst>
                </a:gridCol>
              </a:tblGrid>
              <a:tr h="411480">
                <a:tc>
                  <a:txBody>
                    <a:bodyPr/>
                    <a:lstStyle/>
                    <a:p>
                      <a:pPr marL="0" indent="0" algn="l">
                        <a:buNone/>
                      </a:pPr>
                      <a:r>
                        <a:rPr lang="en-US" sz="1500" b="1" dirty="0">
                          <a:solidFill>
                            <a:srgbClr val="FFFFFF"/>
                          </a:solidFill>
                        </a:rPr>
                        <a:t>Setting</a:t>
                      </a:r>
                      <a:endParaRPr lang="en-US" sz="15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B4472A"/>
                    </a:solidFill>
                  </a:tcPr>
                </a:tc>
                <a:tc>
                  <a:txBody>
                    <a:bodyPr/>
                    <a:lstStyle/>
                    <a:p>
                      <a:pPr marL="0" indent="0" algn="l">
                        <a:buNone/>
                      </a:pPr>
                      <a:r>
                        <a:rPr lang="en-US" sz="1500" b="1" dirty="0">
                          <a:solidFill>
                            <a:srgbClr val="FFFFFF"/>
                          </a:solidFill>
                        </a:rPr>
                        <a:t>Data</a:t>
                      </a:r>
                      <a:endParaRPr lang="en-US" sz="15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B4472A"/>
                    </a:solidFill>
                  </a:tcPr>
                </a:tc>
                <a:tc>
                  <a:txBody>
                    <a:bodyPr/>
                    <a:lstStyle/>
                    <a:p>
                      <a:pPr marL="0" indent="0" algn="l">
                        <a:buNone/>
                      </a:pPr>
                      <a:r>
                        <a:rPr lang="en-US" sz="1500" b="1" dirty="0">
                          <a:solidFill>
                            <a:srgbClr val="FFFFFF"/>
                          </a:solidFill>
                        </a:rPr>
                        <a:t>Split</a:t>
                      </a:r>
                      <a:endParaRPr lang="en-US" sz="15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B4472A"/>
                    </a:solidFill>
                  </a:tcPr>
                </a:tc>
                <a:tc>
                  <a:txBody>
                    <a:bodyPr/>
                    <a:lstStyle/>
                    <a:p>
                      <a:pPr marL="0" indent="0" algn="l">
                        <a:buNone/>
                      </a:pPr>
                      <a:r>
                        <a:rPr lang="en-US" sz="1500" b="1" dirty="0">
                          <a:solidFill>
                            <a:srgbClr val="FFFFFF"/>
                          </a:solidFill>
                        </a:rPr>
                        <a:t>What it tests</a:t>
                      </a:r>
                      <a:endParaRPr lang="en-US" sz="15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B4472A"/>
                    </a:solidFill>
                  </a:tcPr>
                </a:tc>
                <a:extLst>
                  <a:ext uri="{0D108BD9-81ED-4DB2-BD59-A6C34878D82A}">
                    <a16:rowId xmlns:a16="http://schemas.microsoft.com/office/drawing/2014/main" val="10000"/>
                  </a:ext>
                </a:extLst>
              </a:tr>
              <a:tr h="548640">
                <a:tc>
                  <a:txBody>
                    <a:bodyPr/>
                    <a:lstStyle/>
                    <a:p>
                      <a:pPr marL="0" indent="0" algn="l">
                        <a:buNone/>
                      </a:pPr>
                      <a:r>
                        <a:rPr lang="en-US" sz="1500" b="1" dirty="0">
                          <a:solidFill>
                            <a:srgbClr val="1F2A21"/>
                          </a:solidFill>
                        </a:rPr>
                        <a:t>Strict paper rule (≤ 5 km)</a:t>
                      </a:r>
                      <a:endParaRPr lang="en-US" sz="15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tc>
                  <a:txBody>
                    <a:bodyPr/>
                    <a:lstStyle/>
                    <a:p>
                      <a:pPr marL="0" indent="0" algn="l">
                        <a:buNone/>
                      </a:pPr>
                      <a:r>
                        <a:rPr lang="en-US" sz="1500" dirty="0">
                          <a:solidFill>
                            <a:srgbClr val="1F2A21"/>
                          </a:solidFill>
                        </a:rPr>
                        <a:t>8 pairs, 5 events</a:t>
                      </a:r>
                      <a:endParaRPr lang="en-US" sz="15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tc>
                  <a:txBody>
                    <a:bodyPr/>
                    <a:lstStyle/>
                    <a:p>
                      <a:pPr marL="0" indent="0" algn="l">
                        <a:buNone/>
                      </a:pPr>
                      <a:r>
                        <a:rPr lang="en-US" sz="1500" dirty="0">
                          <a:solidFill>
                            <a:srgbClr val="1F2A21"/>
                          </a:solidFill>
                        </a:rPr>
                        <a:t>None: too few to split</a:t>
                      </a:r>
                      <a:endParaRPr lang="en-US" sz="15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tc>
                  <a:txBody>
                    <a:bodyPr/>
                    <a:lstStyle/>
                    <a:p>
                      <a:pPr marL="0" indent="0" algn="l">
                        <a:buNone/>
                      </a:pPr>
                      <a:r>
                        <a:rPr lang="en-US" sz="1500" dirty="0">
                          <a:solidFill>
                            <a:srgbClr val="1F2A21"/>
                          </a:solidFill>
                        </a:rPr>
                        <a:t>Not evaluated</a:t>
                      </a:r>
                      <a:endParaRPr lang="en-US" sz="15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extLst>
                  <a:ext uri="{0D108BD9-81ED-4DB2-BD59-A6C34878D82A}">
                    <a16:rowId xmlns:a16="http://schemas.microsoft.com/office/drawing/2014/main" val="10001"/>
                  </a:ext>
                </a:extLst>
              </a:tr>
              <a:tr h="548640">
                <a:tc>
                  <a:txBody>
                    <a:bodyPr/>
                    <a:lstStyle/>
                    <a:p>
                      <a:pPr marL="0" indent="0" algn="l">
                        <a:buNone/>
                      </a:pPr>
                      <a:r>
                        <a:rPr lang="en-US" sz="1500" b="1" dirty="0">
                          <a:solidFill>
                            <a:srgbClr val="1F2A21"/>
                          </a:solidFill>
                        </a:rPr>
                        <a:t>Supplementary (≤ 100 km)</a:t>
                      </a:r>
                      <a:endParaRPr lang="en-US" sz="15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tc>
                  <a:txBody>
                    <a:bodyPr/>
                    <a:lstStyle/>
                    <a:p>
                      <a:pPr marL="0" indent="0" algn="l">
                        <a:buNone/>
                      </a:pPr>
                      <a:r>
                        <a:rPr lang="en-US" sz="1500" dirty="0">
                          <a:solidFill>
                            <a:srgbClr val="1F2A21"/>
                          </a:solidFill>
                        </a:rPr>
                        <a:t>269 pairs, 9 events</a:t>
                      </a:r>
                      <a:endParaRPr lang="en-US" sz="15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tc>
                  <a:txBody>
                    <a:bodyPr/>
                    <a:lstStyle/>
                    <a:p>
                      <a:pPr marL="0" indent="0" algn="l">
                        <a:buNone/>
                      </a:pPr>
                      <a:r>
                        <a:rPr lang="en-US" sz="1500" dirty="0">
                          <a:solidFill>
                            <a:srgbClr val="1F2A21"/>
                          </a:solidFill>
                        </a:rPr>
                        <a:t>Random 80/10/10 by pair</a:t>
                      </a:r>
                      <a:endParaRPr lang="en-US" sz="15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tc>
                  <a:txBody>
                    <a:bodyPr/>
                    <a:lstStyle/>
                    <a:p>
                      <a:pPr marL="0" indent="0" algn="l">
                        <a:buNone/>
                      </a:pPr>
                      <a:r>
                        <a:rPr lang="en-US" sz="1500" dirty="0">
                          <a:solidFill>
                            <a:srgbClr val="1F2A21"/>
                          </a:solidFill>
                        </a:rPr>
                        <a:t>Exercises the workflow</a:t>
                      </a:r>
                      <a:endParaRPr lang="en-US" sz="15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extLst>
                  <a:ext uri="{0D108BD9-81ED-4DB2-BD59-A6C34878D82A}">
                    <a16:rowId xmlns:a16="http://schemas.microsoft.com/office/drawing/2014/main" val="10002"/>
                  </a:ext>
                </a:extLst>
              </a:tr>
              <a:tr h="777240">
                <a:tc>
                  <a:txBody>
                    <a:bodyPr/>
                    <a:lstStyle/>
                    <a:p>
                      <a:pPr marL="0" indent="0" algn="l">
                        <a:buNone/>
                      </a:pPr>
                      <a:r>
                        <a:rPr lang="en-US" sz="1500" b="1" dirty="0">
                          <a:solidFill>
                            <a:srgbClr val="1F2A21"/>
                          </a:solidFill>
                        </a:rPr>
                        <a:t>Event-held-out (≤ 100 km)</a:t>
                      </a:r>
                      <a:endParaRPr lang="en-US" sz="15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tc>
                  <a:txBody>
                    <a:bodyPr/>
                    <a:lstStyle/>
                    <a:p>
                      <a:pPr marL="0" indent="0" algn="l">
                        <a:buNone/>
                      </a:pPr>
                      <a:r>
                        <a:rPr lang="en-US" sz="1500" dirty="0">
                          <a:solidFill>
                            <a:srgbClr val="1F2A21"/>
                          </a:solidFill>
                        </a:rPr>
                        <a:t>53 train pairs (6 events), 216 test pairs (3 events)</a:t>
                      </a:r>
                      <a:endParaRPr lang="en-US" sz="15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tc>
                  <a:txBody>
                    <a:bodyPr/>
                    <a:lstStyle/>
                    <a:p>
                      <a:pPr marL="0" indent="0" algn="l">
                        <a:buNone/>
                      </a:pPr>
                      <a:r>
                        <a:rPr lang="en-US" sz="1500" dirty="0">
                          <a:solidFill>
                            <a:srgbClr val="1F2A21"/>
                          </a:solidFill>
                        </a:rPr>
                        <a:t>Whole events held out</a:t>
                      </a:r>
                      <a:endParaRPr lang="en-US" sz="15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tc>
                  <a:txBody>
                    <a:bodyPr/>
                    <a:lstStyle/>
                    <a:p>
                      <a:pPr marL="0" indent="0" algn="l">
                        <a:buNone/>
                      </a:pPr>
                      <a:r>
                        <a:rPr lang="en-US" sz="1500" dirty="0">
                          <a:solidFill>
                            <a:srgbClr val="1F2A21"/>
                          </a:solidFill>
                        </a:rPr>
                        <a:t>Generalisation to unseen earthquakes</a:t>
                      </a:r>
                      <a:endParaRPr lang="en-US" sz="15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extLst>
                  <a:ext uri="{0D108BD9-81ED-4DB2-BD59-A6C34878D82A}">
                    <a16:rowId xmlns:a16="http://schemas.microsoft.com/office/drawing/2014/main" val="10003"/>
                  </a:ext>
                </a:extLst>
              </a:tr>
            </a:tbl>
          </a:graphicData>
        </a:graphic>
      </p:graphicFrame>
      <p:sp>
        <p:nvSpPr>
          <p:cNvPr id="6" name="model0"/>
          <p:cNvSpPr txBox="1"/>
          <p:nvPr/>
        </p:nvSpPr>
        <p:spPr>
          <a:xfrm>
            <a:off x="548640" y="4526280"/>
            <a:ext cx="3593592" cy="1325880"/>
          </a:xfrm>
          <a:prstGeom prst="roundRect">
            <a:avLst>
              <a:gd name="adj" fmla="val 6897"/>
            </a:avLst>
          </a:prstGeom>
          <a:solidFill>
            <a:schemeClr val="bg2"/>
          </a:solidFill>
          <a:ln/>
        </p:spPr>
        <p:txBody>
          <a:bodyPr wrap="square" lIns="177800" tIns="177800" rIns="177800" bIns="177800" rtlCol="0" anchor="t"/>
          <a:lstStyle/>
          <a:p>
            <a:pPr marL="0" indent="0">
              <a:spcAft>
                <a:spcPts val="400"/>
              </a:spcAft>
              <a:buNone/>
            </a:pPr>
            <a:r>
              <a:rPr lang="en-US" sz="1300" b="1" dirty="0">
                <a:solidFill>
                  <a:schemeClr val="accent5"/>
                </a:solidFill>
              </a:rPr>
              <a:t>DISTANCE-ONLY LINEAR</a:t>
            </a:r>
            <a:endParaRPr lang="en-US" sz="1500" dirty="0"/>
          </a:p>
          <a:p>
            <a:pPr marL="0" indent="0">
              <a:spcAft>
                <a:spcPts val="400"/>
              </a:spcAft>
              <a:buNone/>
            </a:pPr>
            <a:r>
              <a:rPr lang="en-US" sz="1400" dirty="0">
                <a:solidFill>
                  <a:schemeClr val="tx1"/>
                </a:solidFill>
              </a:rPr>
              <a:t>Benchmark that predicts Δθ from station separation alone.</a:t>
            </a:r>
            <a:endParaRPr lang="en-US" sz="1500" dirty="0"/>
          </a:p>
        </p:txBody>
      </p:sp>
      <p:sp>
        <p:nvSpPr>
          <p:cNvPr id="7" name="model1"/>
          <p:cNvSpPr txBox="1"/>
          <p:nvPr/>
        </p:nvSpPr>
        <p:spPr>
          <a:xfrm>
            <a:off x="4297680" y="4526280"/>
            <a:ext cx="3593592" cy="1325880"/>
          </a:xfrm>
          <a:prstGeom prst="roundRect">
            <a:avLst>
              <a:gd name="adj" fmla="val 6897"/>
            </a:avLst>
          </a:prstGeom>
          <a:solidFill>
            <a:schemeClr val="bg2"/>
          </a:solidFill>
          <a:ln/>
        </p:spPr>
        <p:txBody>
          <a:bodyPr wrap="square" lIns="177800" tIns="177800" rIns="177800" bIns="177800" rtlCol="0" anchor="t"/>
          <a:lstStyle/>
          <a:p>
            <a:pPr marL="0" indent="0">
              <a:spcAft>
                <a:spcPts val="400"/>
              </a:spcAft>
              <a:buNone/>
            </a:pPr>
            <a:r>
              <a:rPr lang="en-US" sz="1300" b="1" dirty="0">
                <a:solidFill>
                  <a:schemeClr val="accent5"/>
                </a:solidFill>
              </a:rPr>
              <a:t>RIDGE REGRESSION</a:t>
            </a:r>
            <a:endParaRPr lang="en-US" sz="1500" dirty="0"/>
          </a:p>
          <a:p>
            <a:pPr marL="0" indent="0">
              <a:spcAft>
                <a:spcPts val="400"/>
              </a:spcAft>
              <a:buNone/>
            </a:pPr>
            <a:r>
              <a:rPr lang="en-US" sz="1400" dirty="0">
                <a:solidFill>
                  <a:schemeClr val="tx1"/>
                </a:solidFill>
              </a:rPr>
              <a:t>Linear model with an L2 penalty: α = 1.5 (random split), α = 10 (event-held-out).</a:t>
            </a:r>
            <a:endParaRPr lang="en-US" sz="1500" dirty="0"/>
          </a:p>
        </p:txBody>
      </p:sp>
      <p:sp>
        <p:nvSpPr>
          <p:cNvPr id="4" name="model2"/>
          <p:cNvSpPr txBox="1"/>
          <p:nvPr/>
        </p:nvSpPr>
        <p:spPr>
          <a:xfrm>
            <a:off x="8046720" y="4526280"/>
            <a:ext cx="3593592" cy="1325880"/>
          </a:xfrm>
          <a:prstGeom prst="roundRect">
            <a:avLst>
              <a:gd name="adj" fmla="val 6897"/>
            </a:avLst>
          </a:prstGeom>
          <a:solidFill>
            <a:schemeClr val="bg2"/>
          </a:solidFill>
          <a:ln/>
        </p:spPr>
        <p:txBody>
          <a:bodyPr wrap="square" lIns="177800" tIns="177800" rIns="177800" bIns="177800" rtlCol="0" anchor="t"/>
          <a:lstStyle/>
          <a:p>
            <a:pPr marL="0" indent="0">
              <a:spcAft>
                <a:spcPts val="400"/>
              </a:spcAft>
              <a:buNone/>
            </a:pPr>
            <a:r>
              <a:rPr lang="en-US" sz="1300" b="1" dirty="0">
                <a:solidFill>
                  <a:schemeClr val="accent5"/>
                </a:solidFill>
              </a:rPr>
              <a:t>MLP</a:t>
            </a:r>
            <a:endParaRPr lang="en-US" sz="1500" dirty="0"/>
          </a:p>
          <a:p>
            <a:pPr marL="0" indent="0">
              <a:spcAft>
                <a:spcPts val="400"/>
              </a:spcAft>
              <a:buNone/>
            </a:pPr>
            <a:r>
              <a:rPr lang="en-US" sz="1400" dirty="0">
                <a:solidFill>
                  <a:schemeClr val="tx1"/>
                </a:solidFill>
              </a:rPr>
              <a:t>Small neural network picked from a validation grid; (32, 16) in the event-held-out run.</a:t>
            </a:r>
            <a:endParaRPr lang="en-US" sz="1500" dirty="0"/>
          </a:p>
        </p:txBody>
      </p:sp>
      <p:sp>
        <p:nvSpPr>
          <p:cNvPr id="9" name="const-note"/>
          <p:cNvSpPr txBox="1"/>
          <p:nvPr/>
        </p:nvSpPr>
        <p:spPr>
          <a:xfrm>
            <a:off x="548640" y="5989320"/>
            <a:ext cx="10972800" cy="274320"/>
          </a:xfrm>
          <a:prstGeom prst="rect">
            <a:avLst/>
          </a:prstGeom>
          <a:noFill/>
          <a:ln/>
        </p:spPr>
        <p:txBody>
          <a:bodyPr wrap="square" lIns="0" tIns="0" rIns="0" bIns="0" rtlCol="0" anchor="t"/>
          <a:lstStyle/>
          <a:p>
            <a:pPr marL="0" indent="0">
              <a:buNone/>
            </a:pPr>
            <a:r>
              <a:rPr lang="en-US" sz="1200" i="1" dirty="0">
                <a:solidFill>
                  <a:schemeClr val="accent2"/>
                </a:solidFill>
              </a:rPr>
              <a:t>The event-held-out run also includes a constant-median baseline.</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320040"/>
          </a:xfrm>
          <a:prstGeom prst="rect">
            <a:avLst/>
          </a:prstGeom>
          <a:noFill/>
          <a:ln/>
        </p:spPr>
        <p:txBody>
          <a:bodyPr wrap="square" lIns="0" tIns="0" rIns="0" bIns="0" rtlCol="0" anchor="t"/>
          <a:lstStyle/>
          <a:p>
            <a:pPr marL="0" indent="0">
              <a:buNone/>
            </a:pPr>
            <a:r>
              <a:rPr lang="en-US" sz="1300" b="1" dirty="0">
                <a:solidFill>
                  <a:schemeClr val="accent1"/>
                </a:solidFill>
              </a:rPr>
              <a:t>07  ·  RESULTS: RANDOM SPLIT</a:t>
            </a:r>
            <a:endParaRPr lang="en-US" sz="1300" dirty="0"/>
          </a:p>
        </p:txBody>
      </p:sp>
      <p:sp>
        <p:nvSpPr>
          <p:cNvPr id="3" name="Text 0"/>
          <p:cNvSpPr>
            <a:spLocks noGrp="1"/>
          </p:cNvSpPr>
          <p:nvPr>
            <p:ph type="title" idx="101" hasCustomPrompt="1"/>
          </p:nvPr>
        </p:nvSpPr>
        <p:spPr>
          <a:xfrm>
            <a:off x="548640" y="658368"/>
            <a:ext cx="11091672" cy="960120"/>
          </a:xfrm>
          <a:prstGeom prst="rect">
            <a:avLst/>
          </a:prstGeom>
          <a:noFill/>
          <a:ln/>
        </p:spPr>
        <p:txBody>
          <a:bodyPr wrap="square" lIns="0" tIns="0" rIns="0" bIns="0" rtlCol="0" anchor="t"/>
          <a:lstStyle/>
          <a:p>
            <a:pPr marL="0" indent="0" algn="l">
              <a:buNone/>
            </a:pPr>
            <a:r>
              <a:rPr lang="en-US" sz="3200" b="1" dirty="0">
                <a:solidFill>
                  <a:schemeClr val="bg1"/>
                </a:solidFill>
              </a:rPr>
              <a:t>On the 100 km random split, no model beat the baseline</a:t>
            </a:r>
            <a:endParaRPr lang="en-US" sz="3200" dirty="0"/>
          </a:p>
        </p:txBody>
      </p:sp>
      <p:graphicFrame>
        <p:nvGraphicFramePr>
          <p:cNvPr id="9" name="random-split-table"/>
          <p:cNvGraphicFramePr>
            <a:graphicFrameLocks noGrp="1"/>
          </p:cNvGraphicFramePr>
          <p:nvPr>
            <p:extLst>
              <p:ext uri="{D42A27DB-BD31-4B8C-83A1-F6EECF244321}">
                <p14:modId xmlns:p14="http://schemas.microsoft.com/office/powerpoint/2010/main" val="1579011935"/>
              </p:ext>
            </p:extLst>
          </p:nvPr>
        </p:nvGraphicFramePr>
        <p:xfrm>
          <a:off x="548640" y="1828800"/>
          <a:ext cx="6126480" cy="3200400"/>
        </p:xfrm>
        <a:graphic>
          <a:graphicData uri="http://schemas.openxmlformats.org/drawingml/2006/table">
            <a:tbl>
              <a:tblPr/>
              <a:tblGrid>
                <a:gridCol w="26517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594360">
                <a:tc>
                  <a:txBody>
                    <a:bodyPr/>
                    <a:lstStyle/>
                    <a:p>
                      <a:pPr marL="0" indent="0" algn="l">
                        <a:buNone/>
                      </a:pPr>
                      <a:r>
                        <a:rPr lang="en-US" sz="1500" b="1" dirty="0">
                          <a:solidFill>
                            <a:srgbClr val="FFFFFF"/>
                          </a:solidFill>
                        </a:rPr>
                        <a:t>Model</a:t>
                      </a:r>
                      <a:endParaRPr lang="en-US" sz="15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B4472A"/>
                    </a:solidFill>
                  </a:tcPr>
                </a:tc>
                <a:tc>
                  <a:txBody>
                    <a:bodyPr/>
                    <a:lstStyle/>
                    <a:p>
                      <a:pPr marL="0" indent="0" algn="ctr">
                        <a:buNone/>
                      </a:pPr>
                      <a:r>
                        <a:rPr lang="en-US" sz="1500" b="1" dirty="0">
                          <a:solidFill>
                            <a:srgbClr val="FFFFFF"/>
                          </a:solidFill>
                        </a:rPr>
                        <a:t>MAE (°)</a:t>
                      </a:r>
                      <a:endParaRPr lang="en-US" sz="15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B4472A"/>
                    </a:solidFill>
                  </a:tcPr>
                </a:tc>
                <a:tc>
                  <a:txBody>
                    <a:bodyPr/>
                    <a:lstStyle/>
                    <a:p>
                      <a:pPr marL="0" indent="0" algn="ctr">
                        <a:buNone/>
                      </a:pPr>
                      <a:r>
                        <a:rPr lang="en-US" sz="1500" b="1" dirty="0">
                          <a:solidFill>
                            <a:srgbClr val="FFFFFF"/>
                          </a:solidFill>
                        </a:rPr>
                        <a:t>RMSE (°)</a:t>
                      </a:r>
                      <a:endParaRPr lang="en-US" sz="15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B4472A"/>
                    </a:solidFill>
                  </a:tcPr>
                </a:tc>
                <a:tc>
                  <a:txBody>
                    <a:bodyPr/>
                    <a:lstStyle/>
                    <a:p>
                      <a:pPr marL="0" indent="0" algn="ctr">
                        <a:buNone/>
                      </a:pPr>
                      <a:r>
                        <a:rPr lang="en-US" sz="1500" b="1" dirty="0">
                          <a:solidFill>
                            <a:srgbClr val="FFFFFF"/>
                          </a:solidFill>
                        </a:rPr>
                        <a:t>R²</a:t>
                      </a:r>
                      <a:endParaRPr lang="en-US" sz="15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B4472A"/>
                    </a:solidFill>
                  </a:tcPr>
                </a:tc>
                <a:extLst>
                  <a:ext uri="{0D108BD9-81ED-4DB2-BD59-A6C34878D82A}">
                    <a16:rowId xmlns:a16="http://schemas.microsoft.com/office/drawing/2014/main" val="10000"/>
                  </a:ext>
                </a:extLst>
              </a:tr>
              <a:tr h="868680">
                <a:tc>
                  <a:txBody>
                    <a:bodyPr/>
                    <a:lstStyle/>
                    <a:p>
                      <a:pPr marL="0" indent="0" algn="l">
                        <a:buNone/>
                      </a:pPr>
                      <a:r>
                        <a:rPr lang="en-US" sz="1600" b="1" dirty="0">
                          <a:solidFill>
                            <a:srgbClr val="1F2A21"/>
                          </a:solidFill>
                        </a:rPr>
                        <a:t>Distance-only linear</a:t>
                      </a:r>
                      <a:endParaRPr lang="en-US" sz="16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tc>
                  <a:txBody>
                    <a:bodyPr/>
                    <a:lstStyle/>
                    <a:p>
                      <a:pPr marL="0" indent="0" algn="ctr">
                        <a:buNone/>
                      </a:pPr>
                      <a:r>
                        <a:rPr lang="en-US" sz="1600" b="1" dirty="0">
                          <a:solidFill>
                            <a:srgbClr val="1F2A21"/>
                          </a:solidFill>
                        </a:rPr>
                        <a:t>22.70</a:t>
                      </a:r>
                      <a:endParaRPr lang="en-US" sz="16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tc>
                  <a:txBody>
                    <a:bodyPr/>
                    <a:lstStyle/>
                    <a:p>
                      <a:pPr marL="0" indent="0" algn="ctr">
                        <a:buNone/>
                      </a:pPr>
                      <a:r>
                        <a:rPr lang="en-US" sz="1600" dirty="0">
                          <a:solidFill>
                            <a:srgbClr val="1F2A21"/>
                          </a:solidFill>
                        </a:rPr>
                        <a:t>25.7</a:t>
                      </a:r>
                      <a:endParaRPr lang="en-US" sz="16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tc>
                  <a:txBody>
                    <a:bodyPr/>
                    <a:lstStyle/>
                    <a:p>
                      <a:pPr marL="0" indent="0" algn="ctr">
                        <a:buNone/>
                      </a:pPr>
                      <a:r>
                        <a:rPr lang="en-US" sz="1600" dirty="0">
                          <a:solidFill>
                            <a:srgbClr val="1F2A21"/>
                          </a:solidFill>
                        </a:rPr>
                        <a:t>−0.073</a:t>
                      </a:r>
                      <a:endParaRPr lang="en-US" sz="16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extLst>
                  <a:ext uri="{0D108BD9-81ED-4DB2-BD59-A6C34878D82A}">
                    <a16:rowId xmlns:a16="http://schemas.microsoft.com/office/drawing/2014/main" val="10001"/>
                  </a:ext>
                </a:extLst>
              </a:tr>
              <a:tr h="868680">
                <a:tc>
                  <a:txBody>
                    <a:bodyPr/>
                    <a:lstStyle/>
                    <a:p>
                      <a:pPr marL="0" indent="0" algn="l">
                        <a:buNone/>
                      </a:pPr>
                      <a:r>
                        <a:rPr lang="en-US" sz="1600" dirty="0">
                          <a:solidFill>
                            <a:srgbClr val="1F2A21"/>
                          </a:solidFill>
                        </a:rPr>
                        <a:t>Ridge (α = 1.5)</a:t>
                      </a:r>
                      <a:endParaRPr lang="en-US" sz="16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tc>
                  <a:txBody>
                    <a:bodyPr/>
                    <a:lstStyle/>
                    <a:p>
                      <a:pPr marL="0" indent="0" algn="ctr">
                        <a:buNone/>
                      </a:pPr>
                      <a:r>
                        <a:rPr lang="en-US" sz="1600" dirty="0">
                          <a:solidFill>
                            <a:srgbClr val="1F2A21"/>
                          </a:solidFill>
                        </a:rPr>
                        <a:t>22.91</a:t>
                      </a:r>
                      <a:endParaRPr lang="en-US" sz="16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tc>
                  <a:txBody>
                    <a:bodyPr/>
                    <a:lstStyle/>
                    <a:p>
                      <a:pPr marL="0" indent="0" algn="ctr">
                        <a:buNone/>
                      </a:pPr>
                      <a:r>
                        <a:rPr lang="en-US" sz="1600" dirty="0">
                          <a:solidFill>
                            <a:srgbClr val="1F2A21"/>
                          </a:solidFill>
                        </a:rPr>
                        <a:t>26.24</a:t>
                      </a:r>
                      <a:endParaRPr lang="en-US" sz="16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tc>
                  <a:txBody>
                    <a:bodyPr/>
                    <a:lstStyle/>
                    <a:p>
                      <a:pPr marL="0" indent="0" algn="ctr">
                        <a:buNone/>
                      </a:pPr>
                      <a:r>
                        <a:rPr lang="en-US" sz="1600" dirty="0">
                          <a:solidFill>
                            <a:srgbClr val="1F2A21"/>
                          </a:solidFill>
                        </a:rPr>
                        <a:t>−0.118</a:t>
                      </a:r>
                      <a:endParaRPr lang="en-US" sz="16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extLst>
                  <a:ext uri="{0D108BD9-81ED-4DB2-BD59-A6C34878D82A}">
                    <a16:rowId xmlns:a16="http://schemas.microsoft.com/office/drawing/2014/main" val="10002"/>
                  </a:ext>
                </a:extLst>
              </a:tr>
              <a:tr h="868680">
                <a:tc>
                  <a:txBody>
                    <a:bodyPr/>
                    <a:lstStyle/>
                    <a:p>
                      <a:pPr marL="0" indent="0" algn="l">
                        <a:buNone/>
                      </a:pPr>
                      <a:r>
                        <a:rPr lang="en-US" sz="1600" dirty="0">
                          <a:solidFill>
                            <a:srgbClr val="1F2A21"/>
                          </a:solidFill>
                        </a:rPr>
                        <a:t>MLP (validation-selected)</a:t>
                      </a:r>
                      <a:endParaRPr lang="en-US" sz="16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tc>
                  <a:txBody>
                    <a:bodyPr/>
                    <a:lstStyle/>
                    <a:p>
                      <a:pPr marL="0" indent="0" algn="ctr">
                        <a:buNone/>
                      </a:pPr>
                      <a:r>
                        <a:rPr lang="en-US" sz="1600" dirty="0">
                          <a:solidFill>
                            <a:srgbClr val="1F2A21"/>
                          </a:solidFill>
                        </a:rPr>
                        <a:t>23.15</a:t>
                      </a:r>
                      <a:endParaRPr lang="en-US" sz="16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tc>
                  <a:txBody>
                    <a:bodyPr/>
                    <a:lstStyle/>
                    <a:p>
                      <a:pPr marL="0" indent="0" algn="ctr">
                        <a:buNone/>
                      </a:pPr>
                      <a:r>
                        <a:rPr lang="en-US" sz="1600" dirty="0">
                          <a:solidFill>
                            <a:srgbClr val="1F2A21"/>
                          </a:solidFill>
                        </a:rPr>
                        <a:t>26.47</a:t>
                      </a:r>
                      <a:endParaRPr lang="en-US" sz="16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tc>
                  <a:txBody>
                    <a:bodyPr/>
                    <a:lstStyle/>
                    <a:p>
                      <a:pPr marL="0" indent="0" algn="ctr">
                        <a:buNone/>
                      </a:pPr>
                      <a:r>
                        <a:rPr lang="en-US" sz="1600" dirty="0">
                          <a:solidFill>
                            <a:srgbClr val="1F2A21"/>
                          </a:solidFill>
                        </a:rPr>
                        <a:t>−0.138</a:t>
                      </a:r>
                      <a:endParaRPr lang="en-US" sz="1600" dirty="0"/>
                    </a:p>
                  </a:txBody>
                  <a:tcPr marL="73152" marR="73152" marT="73152" marB="73152" anchor="ctr">
                    <a:lnL w="25400" cap="flat" cmpd="sng" algn="ctr">
                      <a:solidFill>
                        <a:srgbClr val="2B392D"/>
                      </a:solidFill>
                      <a:prstDash val="solid"/>
                      <a:round/>
                      <a:headEnd type="none" w="med" len="med"/>
                      <a:tailEnd type="none" w="med" len="med"/>
                    </a:lnL>
                    <a:lnR w="25400" cap="flat" cmpd="sng" algn="ctr">
                      <a:solidFill>
                        <a:srgbClr val="2B392D"/>
                      </a:solidFill>
                      <a:prstDash val="solid"/>
                      <a:round/>
                      <a:headEnd type="none" w="med" len="med"/>
                      <a:tailEnd type="none" w="med" len="med"/>
                    </a:lnR>
                    <a:lnT w="25400" cap="flat" cmpd="sng" algn="ctr">
                      <a:solidFill>
                        <a:srgbClr val="2B392D"/>
                      </a:solidFill>
                      <a:prstDash val="solid"/>
                      <a:round/>
                      <a:headEnd type="none" w="med" len="med"/>
                      <a:tailEnd type="none" w="med" len="med"/>
                    </a:lnT>
                    <a:lnB w="25400" cap="flat" cmpd="sng" algn="ctr">
                      <a:solidFill>
                        <a:srgbClr val="2B392D"/>
                      </a:solidFill>
                      <a:prstDash val="solid"/>
                      <a:round/>
                      <a:headEnd type="none" w="med" len="med"/>
                      <a:tailEnd type="none" w="med" len="med"/>
                    </a:lnB>
                    <a:solidFill>
                      <a:srgbClr val="EFE5CB"/>
                    </a:solidFill>
                  </a:tcPr>
                </a:tc>
                <a:extLst>
                  <a:ext uri="{0D108BD9-81ED-4DB2-BD59-A6C34878D82A}">
                    <a16:rowId xmlns:a16="http://schemas.microsoft.com/office/drawing/2014/main" val="10003"/>
                  </a:ext>
                </a:extLst>
              </a:tr>
            </a:tbl>
          </a:graphicData>
        </a:graphic>
      </p:graphicFrame>
      <p:sp>
        <p:nvSpPr>
          <p:cNvPr id="6" name="table-caption"/>
          <p:cNvSpPr txBox="1"/>
          <p:nvPr/>
        </p:nvSpPr>
        <p:spPr>
          <a:xfrm>
            <a:off x="548640" y="5257800"/>
            <a:ext cx="6126480" cy="548640"/>
          </a:xfrm>
          <a:prstGeom prst="rect">
            <a:avLst/>
          </a:prstGeom>
          <a:noFill/>
          <a:ln/>
        </p:spPr>
        <p:txBody>
          <a:bodyPr wrap="square" lIns="0" tIns="0" rIns="0" bIns="0" rtlCol="0" anchor="t"/>
          <a:lstStyle/>
          <a:p>
            <a:pPr marL="0" indent="0">
              <a:buNone/>
            </a:pPr>
            <a:r>
              <a:rPr lang="en-US" sz="1300" i="1" dirty="0">
                <a:solidFill>
                  <a:schemeClr val="accent2"/>
                </a:solidFill>
              </a:rPr>
              <a:t>Test set, random 80/10/10 split by pair, pairs within 100 km (269 pairs). Lower MAE and RMSE are better.</a:t>
            </a:r>
            <a:endParaRPr lang="en-US" sz="1300" dirty="0"/>
          </a:p>
        </p:txBody>
      </p:sp>
      <p:sp>
        <p:nvSpPr>
          <p:cNvPr id="7" name="take-icon0-bg"/>
          <p:cNvSpPr/>
          <p:nvPr/>
        </p:nvSpPr>
        <p:spPr>
          <a:xfrm>
            <a:off x="7040880" y="1920240"/>
            <a:ext cx="640080" cy="640080"/>
          </a:xfrm>
          <a:prstGeom prst="ellipse">
            <a:avLst/>
          </a:prstGeom>
          <a:solidFill>
            <a:srgbClr val="F08A4B"/>
          </a:solidFill>
          <a:ln w="12700">
            <a:solidFill>
              <a:srgbClr val="F08A4B"/>
            </a:solidFill>
            <a:prstDash val="solid"/>
          </a:ln>
        </p:spPr>
      </p:sp>
      <p:pic>
        <p:nvPicPr>
          <p:cNvPr id="8" name="take-icon0" descr="take-icon0"/>
          <p:cNvPicPr>
            <a:picLocks noChangeAspect="1"/>
          </p:cNvPicPr>
          <p:nvPr/>
        </p:nvPicPr>
        <p:blipFill>
          <a:blip r:embed="rId3"/>
          <a:stretch>
            <a:fillRect/>
          </a:stretch>
        </p:blipFill>
        <p:spPr>
          <a:xfrm>
            <a:off x="7200900" y="2080260"/>
            <a:ext cx="320040" cy="320040"/>
          </a:xfrm>
          <a:prstGeom prst="rect">
            <a:avLst/>
          </a:prstGeom>
        </p:spPr>
      </p:pic>
      <p:sp>
        <p:nvSpPr>
          <p:cNvPr id="4" name="take-text0"/>
          <p:cNvSpPr txBox="1"/>
          <p:nvPr/>
        </p:nvSpPr>
        <p:spPr>
          <a:xfrm>
            <a:off x="7863840" y="1828800"/>
            <a:ext cx="3776472" cy="1371600"/>
          </a:xfrm>
          <a:prstGeom prst="rect">
            <a:avLst/>
          </a:prstGeom>
          <a:noFill/>
          <a:ln/>
        </p:spPr>
        <p:txBody>
          <a:bodyPr wrap="square" lIns="0" tIns="0" rIns="0" bIns="0" rtlCol="0" anchor="ctr"/>
          <a:lstStyle/>
          <a:p>
            <a:pPr marL="0" indent="0">
              <a:spcAft>
                <a:spcPts val="300"/>
              </a:spcAft>
              <a:buNone/>
            </a:pPr>
            <a:r>
              <a:rPr lang="en-US" sz="1700" b="1" dirty="0">
                <a:solidFill>
                  <a:schemeClr val="bg1"/>
                </a:solidFill>
              </a:rPr>
              <a:t>Negative R²</a:t>
            </a:r>
            <a:endParaRPr lang="en-US" sz="1400" dirty="0"/>
          </a:p>
          <a:p>
            <a:pPr marL="0" indent="0">
              <a:buNone/>
            </a:pPr>
            <a:r>
              <a:rPr lang="en-US" sz="1500" dirty="0">
                <a:solidFill>
                  <a:schemeClr val="bg2"/>
                </a:solidFill>
              </a:rPr>
              <a:t>Every model did worse than predicting the test-set mean.</a:t>
            </a:r>
            <a:endParaRPr lang="en-US" sz="1400" dirty="0"/>
          </a:p>
        </p:txBody>
      </p:sp>
      <p:sp>
        <p:nvSpPr>
          <p:cNvPr id="10" name="take-icon1-bg"/>
          <p:cNvSpPr/>
          <p:nvPr/>
        </p:nvSpPr>
        <p:spPr>
          <a:xfrm>
            <a:off x="7040880" y="3401568"/>
            <a:ext cx="640080" cy="640080"/>
          </a:xfrm>
          <a:prstGeom prst="ellipse">
            <a:avLst/>
          </a:prstGeom>
          <a:solidFill>
            <a:srgbClr val="F08A4B"/>
          </a:solidFill>
          <a:ln w="12700">
            <a:solidFill>
              <a:srgbClr val="F08A4B"/>
            </a:solidFill>
            <a:prstDash val="solid"/>
          </a:ln>
        </p:spPr>
      </p:sp>
      <p:pic>
        <p:nvPicPr>
          <p:cNvPr id="11" name="take-icon1" descr="take-icon1"/>
          <p:cNvPicPr>
            <a:picLocks noChangeAspect="1"/>
          </p:cNvPicPr>
          <p:nvPr/>
        </p:nvPicPr>
        <p:blipFill>
          <a:blip r:embed="rId4"/>
          <a:stretch>
            <a:fillRect/>
          </a:stretch>
        </p:blipFill>
        <p:spPr>
          <a:xfrm>
            <a:off x="7200900" y="3561588"/>
            <a:ext cx="320040" cy="320040"/>
          </a:xfrm>
          <a:prstGeom prst="rect">
            <a:avLst/>
          </a:prstGeom>
        </p:spPr>
      </p:pic>
      <p:sp>
        <p:nvSpPr>
          <p:cNvPr id="12" name="take-text1"/>
          <p:cNvSpPr txBox="1"/>
          <p:nvPr/>
        </p:nvSpPr>
        <p:spPr>
          <a:xfrm>
            <a:off x="7863840" y="3310128"/>
            <a:ext cx="3776472" cy="1371600"/>
          </a:xfrm>
          <a:prstGeom prst="rect">
            <a:avLst/>
          </a:prstGeom>
          <a:noFill/>
          <a:ln/>
        </p:spPr>
        <p:txBody>
          <a:bodyPr wrap="square" lIns="0" tIns="0" rIns="0" bIns="0" rtlCol="0" anchor="ctr"/>
          <a:lstStyle/>
          <a:p>
            <a:pPr marL="0" indent="0">
              <a:spcAft>
                <a:spcPts val="300"/>
              </a:spcAft>
              <a:buNone/>
            </a:pPr>
            <a:r>
              <a:rPr lang="en-US" sz="1700" b="1" dirty="0">
                <a:solidFill>
                  <a:schemeClr val="bg1"/>
                </a:solidFill>
              </a:rPr>
              <a:t>Small gaps</a:t>
            </a:r>
            <a:endParaRPr lang="en-US" sz="1400" dirty="0"/>
          </a:p>
          <a:p>
            <a:pPr marL="0" indent="0">
              <a:buNone/>
            </a:pPr>
            <a:r>
              <a:rPr lang="en-US" sz="1500" dirty="0">
                <a:solidFill>
                  <a:schemeClr val="bg2"/>
                </a:solidFill>
              </a:rPr>
              <a:t>Best and worst MAE differ by only 0.45°.</a:t>
            </a:r>
            <a:endParaRPr lang="en-US" sz="1400" dirty="0"/>
          </a:p>
        </p:txBody>
      </p:sp>
      <p:sp>
        <p:nvSpPr>
          <p:cNvPr id="13" name="take-icon2-bg"/>
          <p:cNvSpPr/>
          <p:nvPr/>
        </p:nvSpPr>
        <p:spPr>
          <a:xfrm>
            <a:off x="7040880" y="4882896"/>
            <a:ext cx="640080" cy="640080"/>
          </a:xfrm>
          <a:prstGeom prst="ellipse">
            <a:avLst/>
          </a:prstGeom>
          <a:solidFill>
            <a:srgbClr val="F08A4B"/>
          </a:solidFill>
          <a:ln w="12700">
            <a:solidFill>
              <a:srgbClr val="F08A4B"/>
            </a:solidFill>
            <a:prstDash val="solid"/>
          </a:ln>
        </p:spPr>
      </p:sp>
      <p:pic>
        <p:nvPicPr>
          <p:cNvPr id="14" name="take-icon2" descr="take-icon2"/>
          <p:cNvPicPr>
            <a:picLocks noChangeAspect="1"/>
          </p:cNvPicPr>
          <p:nvPr/>
        </p:nvPicPr>
        <p:blipFill>
          <a:blip r:embed="rId5"/>
          <a:stretch>
            <a:fillRect/>
          </a:stretch>
        </p:blipFill>
        <p:spPr>
          <a:xfrm>
            <a:off x="7200900" y="5042916"/>
            <a:ext cx="320040" cy="320040"/>
          </a:xfrm>
          <a:prstGeom prst="rect">
            <a:avLst/>
          </a:prstGeom>
        </p:spPr>
      </p:pic>
      <p:sp>
        <p:nvSpPr>
          <p:cNvPr id="15" name="take-text2"/>
          <p:cNvSpPr txBox="1"/>
          <p:nvPr/>
        </p:nvSpPr>
        <p:spPr>
          <a:xfrm>
            <a:off x="7863840" y="4791456"/>
            <a:ext cx="3776472" cy="1371600"/>
          </a:xfrm>
          <a:prstGeom prst="rect">
            <a:avLst/>
          </a:prstGeom>
          <a:noFill/>
          <a:ln/>
        </p:spPr>
        <p:txBody>
          <a:bodyPr wrap="square" lIns="0" tIns="0" rIns="0" bIns="0" rtlCol="0" anchor="ctr"/>
          <a:lstStyle/>
          <a:p>
            <a:pPr marL="0" indent="0">
              <a:spcAft>
                <a:spcPts val="300"/>
              </a:spcAft>
              <a:buNone/>
            </a:pPr>
            <a:r>
              <a:rPr lang="en-US" sz="1700" b="1" dirty="0">
                <a:solidFill>
                  <a:schemeClr val="bg1"/>
                </a:solidFill>
              </a:rPr>
              <a:t>Read with care</a:t>
            </a:r>
            <a:endParaRPr lang="en-US" sz="1400" dirty="0"/>
          </a:p>
          <a:p>
            <a:pPr marL="0" indent="0">
              <a:buNone/>
            </a:pPr>
            <a:r>
              <a:rPr lang="en-US" sz="1500" dirty="0">
                <a:solidFill>
                  <a:schemeClr val="bg2"/>
                </a:solidFill>
              </a:rPr>
              <a:t>The MLP was chosen from a validation grid, and pairs sharing events can sit in both splits.</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320040"/>
          </a:xfrm>
          <a:prstGeom prst="rect">
            <a:avLst/>
          </a:prstGeom>
          <a:noFill/>
          <a:ln/>
        </p:spPr>
        <p:txBody>
          <a:bodyPr wrap="square" lIns="0" tIns="0" rIns="0" bIns="0" rtlCol="0" anchor="t"/>
          <a:lstStyle/>
          <a:p>
            <a:pPr marL="0" indent="0">
              <a:buNone/>
            </a:pPr>
            <a:r>
              <a:rPr lang="en-US" sz="1300" b="1" dirty="0">
                <a:solidFill>
                  <a:schemeClr val="accent1"/>
                </a:solidFill>
              </a:rPr>
              <a:t>08  ·  RESULTS: HELD-OUT EVENTS</a:t>
            </a:r>
            <a:endParaRPr lang="en-US" sz="1300" dirty="0"/>
          </a:p>
        </p:txBody>
      </p:sp>
      <p:sp>
        <p:nvSpPr>
          <p:cNvPr id="3" name="Text 0"/>
          <p:cNvSpPr>
            <a:spLocks noGrp="1"/>
          </p:cNvSpPr>
          <p:nvPr>
            <p:ph type="title" idx="101" hasCustomPrompt="1"/>
          </p:nvPr>
        </p:nvSpPr>
        <p:spPr>
          <a:xfrm>
            <a:off x="548640" y="658368"/>
            <a:ext cx="11091672" cy="960120"/>
          </a:xfrm>
          <a:prstGeom prst="rect">
            <a:avLst/>
          </a:prstGeom>
          <a:noFill/>
          <a:ln/>
        </p:spPr>
        <p:txBody>
          <a:bodyPr wrap="square" lIns="0" tIns="0" rIns="0" bIns="0" rtlCol="0" anchor="t"/>
          <a:lstStyle/>
          <a:p>
            <a:pPr marL="0" indent="0" algn="l">
              <a:buNone/>
            </a:pPr>
            <a:r>
              <a:rPr lang="en-US" sz="3200" b="1" dirty="0">
                <a:solidFill>
                  <a:schemeClr val="bg1"/>
                </a:solidFill>
              </a:rPr>
              <a:t>Held out by earthquake, the MLP generalised worst</a:t>
            </a:r>
            <a:endParaRPr lang="en-US" sz="3200" dirty="0"/>
          </a:p>
        </p:txBody>
      </p:sp>
      <p:graphicFrame>
        <p:nvGraphicFramePr>
          <p:cNvPr id="5" name="heldout-chart"/>
          <p:cNvGraphicFramePr/>
          <p:nvPr/>
        </p:nvGraphicFramePr>
        <p:xfrm>
          <a:off x="548640" y="1828800"/>
          <a:ext cx="658368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6" name="r2-head"/>
          <p:cNvSpPr txBox="1"/>
          <p:nvPr/>
        </p:nvSpPr>
        <p:spPr>
          <a:xfrm>
            <a:off x="7498080" y="1828800"/>
            <a:ext cx="4114800" cy="320040"/>
          </a:xfrm>
          <a:prstGeom prst="rect">
            <a:avLst/>
          </a:prstGeom>
          <a:noFill/>
          <a:ln/>
        </p:spPr>
        <p:txBody>
          <a:bodyPr wrap="square" lIns="0" tIns="0" rIns="0" bIns="0" rtlCol="0" anchor="t"/>
          <a:lstStyle/>
          <a:p>
            <a:pPr marL="0" indent="0">
              <a:buNone/>
            </a:pPr>
            <a:r>
              <a:rPr lang="en-US" sz="1600" b="1" dirty="0">
                <a:solidFill>
                  <a:schemeClr val="accent1"/>
                </a:solidFill>
              </a:rPr>
              <a:t>R² on 216 test pairs</a:t>
            </a:r>
            <a:endParaRPr lang="en-US" sz="1600" dirty="0"/>
          </a:p>
        </p:txBody>
      </p:sp>
      <p:sp>
        <p:nvSpPr>
          <p:cNvPr id="7" name="r2-row0"/>
          <p:cNvSpPr txBox="1"/>
          <p:nvPr/>
        </p:nvSpPr>
        <p:spPr>
          <a:xfrm>
            <a:off x="7498080" y="2286000"/>
            <a:ext cx="4142232" cy="658368"/>
          </a:xfrm>
          <a:prstGeom prst="roundRect">
            <a:avLst>
              <a:gd name="adj" fmla="val 13889"/>
            </a:avLst>
          </a:prstGeom>
          <a:solidFill>
            <a:schemeClr val="bg2"/>
          </a:solidFill>
          <a:ln/>
        </p:spPr>
        <p:txBody>
          <a:bodyPr wrap="square" lIns="152400" tIns="152400" rIns="152400" bIns="152400" rtlCol="0" anchor="ctr"/>
          <a:lstStyle/>
          <a:p>
            <a:pPr marL="0" indent="0">
              <a:buNone/>
            </a:pPr>
            <a:r>
              <a:rPr lang="en-US" sz="1500" dirty="0">
                <a:solidFill>
                  <a:schemeClr val="tx1"/>
                </a:solidFill>
              </a:rPr>
              <a:t>Constant median   </a:t>
            </a:r>
            <a:r>
              <a:rPr lang="en-US" sz="2600" b="1" dirty="0">
                <a:solidFill>
                  <a:schemeClr val="accent5"/>
                </a:solidFill>
                <a:latin typeface="+mj-lt" pitchFamily="34" charset="0"/>
                <a:ea typeface="+mj-lt" pitchFamily="34" charset="-122"/>
                <a:cs typeface="+mj-lt" pitchFamily="34" charset="-120"/>
              </a:rPr>
              <a:t>−0.137</a:t>
            </a:r>
            <a:endParaRPr lang="en-US" sz="1500" dirty="0"/>
          </a:p>
        </p:txBody>
      </p:sp>
      <p:sp>
        <p:nvSpPr>
          <p:cNvPr id="8" name="r2-row1"/>
          <p:cNvSpPr txBox="1"/>
          <p:nvPr/>
        </p:nvSpPr>
        <p:spPr>
          <a:xfrm>
            <a:off x="7498080" y="3063240"/>
            <a:ext cx="4142232" cy="658368"/>
          </a:xfrm>
          <a:prstGeom prst="roundRect">
            <a:avLst>
              <a:gd name="adj" fmla="val 13889"/>
            </a:avLst>
          </a:prstGeom>
          <a:solidFill>
            <a:schemeClr val="bg2"/>
          </a:solidFill>
          <a:ln/>
        </p:spPr>
        <p:txBody>
          <a:bodyPr wrap="square" lIns="152400" tIns="152400" rIns="152400" bIns="152400" rtlCol="0" anchor="ctr"/>
          <a:lstStyle/>
          <a:p>
            <a:pPr marL="0" indent="0">
              <a:buNone/>
            </a:pPr>
            <a:r>
              <a:rPr lang="en-US" sz="1500" dirty="0">
                <a:solidFill>
                  <a:schemeClr val="tx1"/>
                </a:solidFill>
              </a:rPr>
              <a:t>Ridge (α = 10)   </a:t>
            </a:r>
            <a:r>
              <a:rPr lang="en-US" sz="2600" b="1" dirty="0">
                <a:solidFill>
                  <a:schemeClr val="accent5"/>
                </a:solidFill>
                <a:latin typeface="+mj-lt" pitchFamily="34" charset="0"/>
                <a:ea typeface="+mj-lt" pitchFamily="34" charset="-122"/>
                <a:cs typeface="+mj-lt" pitchFamily="34" charset="-120"/>
              </a:rPr>
              <a:t>−0.132</a:t>
            </a:r>
            <a:endParaRPr lang="en-US" sz="1500" dirty="0"/>
          </a:p>
        </p:txBody>
      </p:sp>
      <p:sp>
        <p:nvSpPr>
          <p:cNvPr id="9" name="r2-row2"/>
          <p:cNvSpPr txBox="1"/>
          <p:nvPr/>
        </p:nvSpPr>
        <p:spPr>
          <a:xfrm>
            <a:off x="7498080" y="3840480"/>
            <a:ext cx="4142232" cy="658368"/>
          </a:xfrm>
          <a:prstGeom prst="roundRect">
            <a:avLst>
              <a:gd name="adj" fmla="val 13889"/>
            </a:avLst>
          </a:prstGeom>
          <a:solidFill>
            <a:schemeClr val="accent1"/>
          </a:solidFill>
          <a:ln/>
        </p:spPr>
        <p:txBody>
          <a:bodyPr wrap="square" lIns="152400" tIns="152400" rIns="152400" bIns="152400" rtlCol="0" anchor="ctr"/>
          <a:lstStyle/>
          <a:p>
            <a:pPr marL="0" indent="0">
              <a:buNone/>
            </a:pPr>
            <a:r>
              <a:rPr lang="en-US" sz="1500" dirty="0">
                <a:solidFill>
                  <a:schemeClr val="tx1"/>
                </a:solidFill>
              </a:rPr>
              <a:t>MLP (32, 16)   </a:t>
            </a:r>
            <a:r>
              <a:rPr lang="en-US" sz="2600" b="1" dirty="0">
                <a:solidFill>
                  <a:schemeClr val="tx1"/>
                </a:solidFill>
                <a:latin typeface="+mj-lt" pitchFamily="34" charset="0"/>
                <a:ea typeface="+mj-lt" pitchFamily="34" charset="-122"/>
                <a:cs typeface="+mj-lt" pitchFamily="34" charset="-120"/>
              </a:rPr>
              <a:t>−0.654</a:t>
            </a:r>
            <a:endParaRPr lang="en-US" sz="1500" dirty="0"/>
          </a:p>
        </p:txBody>
      </p:sp>
      <p:sp>
        <p:nvSpPr>
          <p:cNvPr id="10" name="heldout-note"/>
          <p:cNvSpPr txBox="1"/>
          <p:nvPr/>
        </p:nvSpPr>
        <p:spPr>
          <a:xfrm>
            <a:off x="7498080" y="4709160"/>
            <a:ext cx="4142232" cy="1417320"/>
          </a:xfrm>
          <a:prstGeom prst="roundRect">
            <a:avLst>
              <a:gd name="adj" fmla="val 6452"/>
            </a:avLst>
          </a:prstGeom>
          <a:solidFill>
            <a:schemeClr val="bg2"/>
          </a:solidFill>
          <a:ln/>
        </p:spPr>
        <p:txBody>
          <a:bodyPr wrap="square" lIns="177800" tIns="177800" rIns="177800" bIns="177800" rtlCol="0" anchor="ctr"/>
          <a:lstStyle/>
          <a:p>
            <a:pPr marL="0" indent="0">
              <a:spcAft>
                <a:spcPts val="400"/>
              </a:spcAft>
              <a:buNone/>
            </a:pPr>
            <a:r>
              <a:rPr lang="en-US" sz="1400" dirty="0">
                <a:solidFill>
                  <a:schemeClr val="tx1"/>
                </a:solidFill>
              </a:rPr>
              <a:t>Only 53 training pairs from 6 events, tested on 216 pairs from 3 events: dominated by a few earthquakes, so results are unstable.</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320040"/>
          </a:xfrm>
          <a:prstGeom prst="rect">
            <a:avLst/>
          </a:prstGeom>
          <a:noFill/>
          <a:ln/>
        </p:spPr>
        <p:txBody>
          <a:bodyPr wrap="square" lIns="0" tIns="0" rIns="0" bIns="0" rtlCol="0" anchor="t"/>
          <a:lstStyle/>
          <a:p>
            <a:pPr marL="0" indent="0">
              <a:buNone/>
            </a:pPr>
            <a:r>
              <a:rPr lang="en-US" sz="1300" b="1" dirty="0">
                <a:solidFill>
                  <a:schemeClr val="accent1"/>
                </a:solidFill>
              </a:rPr>
              <a:t>09  ·  COMPARISON WITH THE PAPER</a:t>
            </a:r>
            <a:endParaRPr lang="en-US" sz="1300" dirty="0"/>
          </a:p>
        </p:txBody>
      </p:sp>
      <p:sp>
        <p:nvSpPr>
          <p:cNvPr id="3" name="Text 0"/>
          <p:cNvSpPr>
            <a:spLocks noGrp="1"/>
          </p:cNvSpPr>
          <p:nvPr>
            <p:ph type="title" idx="101" hasCustomPrompt="1"/>
          </p:nvPr>
        </p:nvSpPr>
        <p:spPr>
          <a:xfrm>
            <a:off x="548640" y="658368"/>
            <a:ext cx="11091672" cy="960120"/>
          </a:xfrm>
          <a:prstGeom prst="rect">
            <a:avLst/>
          </a:prstGeom>
          <a:noFill/>
          <a:ln/>
        </p:spPr>
        <p:txBody>
          <a:bodyPr wrap="square" lIns="0" tIns="0" rIns="0" bIns="0" rtlCol="0" anchor="t"/>
          <a:lstStyle/>
          <a:p>
            <a:pPr marL="0" indent="0" algn="l">
              <a:buNone/>
            </a:pPr>
            <a:r>
              <a:rPr lang="en-US" sz="3200" b="1" dirty="0">
                <a:solidFill>
                  <a:schemeClr val="bg1"/>
                </a:solidFill>
              </a:rPr>
              <a:t>The paper's models improve with complexity; ours do not</a:t>
            </a:r>
            <a:endParaRPr lang="en-US" sz="3200" dirty="0"/>
          </a:p>
        </p:txBody>
      </p:sp>
      <p:graphicFrame>
        <p:nvGraphicFramePr>
          <p:cNvPr id="5" name="paper-vs-ours-chart"/>
          <p:cNvGraphicFramePr/>
          <p:nvPr/>
        </p:nvGraphicFramePr>
        <p:xfrm>
          <a:off x="548640" y="1828800"/>
          <a:ext cx="676656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6" name="cmp1"/>
          <p:cNvSpPr txBox="1"/>
          <p:nvPr/>
        </p:nvSpPr>
        <p:spPr>
          <a:xfrm>
            <a:off x="7589520" y="1828800"/>
            <a:ext cx="4050792" cy="1325880"/>
          </a:xfrm>
          <a:prstGeom prst="roundRect">
            <a:avLst>
              <a:gd name="adj" fmla="val 6897"/>
            </a:avLst>
          </a:prstGeom>
          <a:solidFill>
            <a:schemeClr val="bg2"/>
          </a:solidFill>
          <a:ln/>
        </p:spPr>
        <p:txBody>
          <a:bodyPr wrap="square" lIns="177800" tIns="177800" rIns="177800" bIns="177800" rtlCol="0" anchor="ctr"/>
          <a:lstStyle/>
          <a:p>
            <a:pPr marL="0" indent="0">
              <a:spcAft>
                <a:spcPts val="400"/>
              </a:spcAft>
              <a:buNone/>
            </a:pPr>
            <a:r>
              <a:rPr lang="en-US" sz="1300" b="1" dirty="0">
                <a:solidFill>
                  <a:schemeClr val="accent5"/>
                </a:solidFill>
              </a:rPr>
              <a:t>R² TELLS THE SAME STORY</a:t>
            </a:r>
            <a:endParaRPr lang="en-US" sz="1500" dirty="0"/>
          </a:p>
          <a:p>
            <a:pPr marL="0" indent="0">
              <a:spcAft>
                <a:spcPts val="400"/>
              </a:spcAft>
              <a:buNone/>
            </a:pPr>
            <a:r>
              <a:rPr lang="en-US" sz="1500" dirty="0">
                <a:solidFill>
                  <a:schemeClr val="tx1"/>
                </a:solidFill>
              </a:rPr>
              <a:t>Paper: 0.025 → 0.245 → 0.354. Ours: −0.073 → −0.118 → −0.138.</a:t>
            </a:r>
            <a:endParaRPr lang="en-US" sz="1500" dirty="0"/>
          </a:p>
        </p:txBody>
      </p:sp>
      <p:sp>
        <p:nvSpPr>
          <p:cNvPr id="7" name="cmp2"/>
          <p:cNvSpPr txBox="1"/>
          <p:nvPr/>
        </p:nvSpPr>
        <p:spPr>
          <a:xfrm>
            <a:off x="7589520" y="3310128"/>
            <a:ext cx="4050792" cy="1463040"/>
          </a:xfrm>
          <a:prstGeom prst="roundRect">
            <a:avLst>
              <a:gd name="adj" fmla="val 6250"/>
            </a:avLst>
          </a:prstGeom>
          <a:solidFill>
            <a:schemeClr val="bg2"/>
          </a:solidFill>
          <a:ln/>
        </p:spPr>
        <p:txBody>
          <a:bodyPr wrap="square" lIns="177800" tIns="177800" rIns="177800" bIns="177800" rtlCol="0" anchor="ctr"/>
          <a:lstStyle/>
          <a:p>
            <a:pPr marL="0" indent="0">
              <a:spcAft>
                <a:spcPts val="400"/>
              </a:spcAft>
              <a:buNone/>
            </a:pPr>
            <a:r>
              <a:rPr lang="en-US" sz="1300" b="1" dirty="0">
                <a:solidFill>
                  <a:schemeClr val="accent5"/>
                </a:solidFill>
              </a:rPr>
              <a:t>NOT LIKE-FOR-LIKE</a:t>
            </a:r>
            <a:endParaRPr lang="en-US" sz="1500" dirty="0"/>
          </a:p>
          <a:p>
            <a:pPr marL="0" indent="0">
              <a:spcAft>
                <a:spcPts val="400"/>
              </a:spcAft>
              <a:buNone/>
            </a:pPr>
            <a:r>
              <a:rPr lang="en-US" sz="1500" dirty="0">
                <a:solidFill>
                  <a:schemeClr val="tx1"/>
                </a:solidFill>
              </a:rPr>
              <a:t>Different pairing radius (5 vs 100 km), about 5,300 vs 269 pairs, and unverified features.</a:t>
            </a:r>
            <a:endParaRPr lang="en-US" sz="1500" dirty="0"/>
          </a:p>
        </p:txBody>
      </p:sp>
      <p:sp>
        <p:nvSpPr>
          <p:cNvPr id="8" name="cmp3"/>
          <p:cNvSpPr txBox="1"/>
          <p:nvPr/>
        </p:nvSpPr>
        <p:spPr>
          <a:xfrm>
            <a:off x="7589520" y="4937760"/>
            <a:ext cx="4050792" cy="1188720"/>
          </a:xfrm>
          <a:prstGeom prst="roundRect">
            <a:avLst>
              <a:gd name="adj" fmla="val 7692"/>
            </a:avLst>
          </a:prstGeom>
          <a:solidFill>
            <a:schemeClr val="bg2"/>
          </a:solidFill>
          <a:ln/>
        </p:spPr>
        <p:txBody>
          <a:bodyPr wrap="square" lIns="177800" tIns="177800" rIns="177800" bIns="177800" rtlCol="0" anchor="ctr"/>
          <a:lstStyle/>
          <a:p>
            <a:pPr marL="0" indent="0">
              <a:spcAft>
                <a:spcPts val="400"/>
              </a:spcAft>
              <a:buNone/>
            </a:pPr>
            <a:r>
              <a:rPr lang="en-US" sz="1300" b="1" dirty="0">
                <a:solidFill>
                  <a:schemeClr val="accent5"/>
                </a:solidFill>
              </a:rPr>
              <a:t>REFERENCE ONLY</a:t>
            </a:r>
            <a:endParaRPr lang="en-US" sz="1500" dirty="0"/>
          </a:p>
          <a:p>
            <a:pPr marL="0" indent="0">
              <a:spcAft>
                <a:spcPts val="400"/>
              </a:spcAft>
              <a:buNone/>
            </a:pPr>
            <a:r>
              <a:rPr lang="en-US" sz="1500" dirty="0">
                <a:solidFill>
                  <a:schemeClr val="tx1"/>
                </a:solidFill>
              </a:rPr>
              <a:t>Paper values are never presented as our results.</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320040"/>
          </a:xfrm>
          <a:prstGeom prst="rect">
            <a:avLst/>
          </a:prstGeom>
          <a:noFill/>
          <a:ln/>
        </p:spPr>
        <p:txBody>
          <a:bodyPr wrap="square" lIns="0" tIns="0" rIns="0" bIns="0" rtlCol="0" anchor="t"/>
          <a:lstStyle/>
          <a:p>
            <a:pPr marL="0" indent="0">
              <a:buNone/>
            </a:pPr>
            <a:r>
              <a:rPr lang="en-US" sz="1300" b="1" dirty="0">
                <a:solidFill>
                  <a:schemeClr val="accent1"/>
                </a:solidFill>
              </a:rPr>
              <a:t>10  ·  INTERPRETATION</a:t>
            </a:r>
            <a:endParaRPr lang="en-US" sz="1300" dirty="0"/>
          </a:p>
        </p:txBody>
      </p:sp>
      <p:sp>
        <p:nvSpPr>
          <p:cNvPr id="3" name="Text 0"/>
          <p:cNvSpPr>
            <a:spLocks noGrp="1"/>
          </p:cNvSpPr>
          <p:nvPr>
            <p:ph type="title" idx="101" hasCustomPrompt="1"/>
          </p:nvPr>
        </p:nvSpPr>
        <p:spPr>
          <a:xfrm>
            <a:off x="548640" y="658368"/>
            <a:ext cx="11091672" cy="960120"/>
          </a:xfrm>
          <a:prstGeom prst="rect">
            <a:avLst/>
          </a:prstGeom>
          <a:noFill/>
          <a:ln/>
        </p:spPr>
        <p:txBody>
          <a:bodyPr wrap="square" lIns="0" tIns="0" rIns="0" bIns="0" rtlCol="0" anchor="t"/>
          <a:lstStyle/>
          <a:p>
            <a:pPr marL="0" indent="0" algn="l">
              <a:buNone/>
            </a:pPr>
            <a:r>
              <a:rPr lang="en-US" sz="3200" b="1" dirty="0">
                <a:solidFill>
                  <a:schemeClr val="bg1"/>
                </a:solidFill>
              </a:rPr>
              <a:t>Why the models did not beat the baselines</a:t>
            </a:r>
            <a:endParaRPr lang="en-US" sz="3200" dirty="0"/>
          </a:p>
        </p:txBody>
      </p:sp>
      <p:sp>
        <p:nvSpPr>
          <p:cNvPr id="5" name="why-card0"/>
          <p:cNvSpPr/>
          <p:nvPr/>
        </p:nvSpPr>
        <p:spPr>
          <a:xfrm>
            <a:off x="548640" y="1828800"/>
            <a:ext cx="5440680" cy="2057400"/>
          </a:xfrm>
          <a:prstGeom prst="roundRect">
            <a:avLst>
              <a:gd name="adj" fmla="val 4444"/>
            </a:avLst>
          </a:prstGeom>
          <a:solidFill>
            <a:schemeClr val="bg2"/>
          </a:solidFill>
          <a:ln w="12700">
            <a:solidFill>
              <a:schemeClr val="bg2"/>
            </a:solidFill>
            <a:prstDash val="solid"/>
          </a:ln>
        </p:spPr>
      </p:sp>
      <p:sp>
        <p:nvSpPr>
          <p:cNvPr id="6" name="why-icon0-bg"/>
          <p:cNvSpPr/>
          <p:nvPr/>
        </p:nvSpPr>
        <p:spPr>
          <a:xfrm>
            <a:off x="777240" y="2103120"/>
            <a:ext cx="685800" cy="685800"/>
          </a:xfrm>
          <a:prstGeom prst="ellipse">
            <a:avLst/>
          </a:prstGeom>
          <a:solidFill>
            <a:srgbClr val="B4472A"/>
          </a:solidFill>
          <a:ln w="12700">
            <a:solidFill>
              <a:srgbClr val="B4472A"/>
            </a:solidFill>
            <a:prstDash val="solid"/>
          </a:ln>
        </p:spPr>
      </p:sp>
      <p:pic>
        <p:nvPicPr>
          <p:cNvPr id="7" name="why-icon0" descr="why-icon0"/>
          <p:cNvPicPr>
            <a:picLocks noChangeAspect="1"/>
          </p:cNvPicPr>
          <p:nvPr/>
        </p:nvPicPr>
        <p:blipFill>
          <a:blip r:embed="rId3"/>
          <a:stretch>
            <a:fillRect/>
          </a:stretch>
        </p:blipFill>
        <p:spPr>
          <a:xfrm>
            <a:off x="948690" y="2274570"/>
            <a:ext cx="342900" cy="342900"/>
          </a:xfrm>
          <a:prstGeom prst="rect">
            <a:avLst/>
          </a:prstGeom>
        </p:spPr>
      </p:pic>
      <p:sp>
        <p:nvSpPr>
          <p:cNvPr id="8" name="why-body0"/>
          <p:cNvSpPr txBox="1"/>
          <p:nvPr/>
        </p:nvSpPr>
        <p:spPr>
          <a:xfrm>
            <a:off x="1691640" y="2011680"/>
            <a:ext cx="4114800" cy="1737360"/>
          </a:xfrm>
          <a:prstGeom prst="rect">
            <a:avLst/>
          </a:prstGeom>
          <a:noFill/>
          <a:ln/>
        </p:spPr>
        <p:txBody>
          <a:bodyPr wrap="square" lIns="0" tIns="0" rIns="0" bIns="0" rtlCol="0" anchor="ctr"/>
          <a:lstStyle/>
          <a:p>
            <a:pPr marL="0" indent="0">
              <a:spcAft>
                <a:spcPts val="400"/>
              </a:spcAft>
              <a:buNone/>
            </a:pPr>
            <a:r>
              <a:rPr lang="en-US" sz="1700" b="1" dirty="0">
                <a:solidFill>
                  <a:schemeClr val="tx1"/>
                </a:solidFill>
              </a:rPr>
              <a:t>Too few independent examples</a:t>
            </a:r>
            <a:endParaRPr lang="en-US" sz="1400" dirty="0"/>
          </a:p>
          <a:p>
            <a:pPr marL="0" indent="0">
              <a:buNone/>
            </a:pPr>
            <a:r>
              <a:rPr lang="en-US" sz="1600" dirty="0">
                <a:solidFill>
                  <a:schemeClr val="tx1"/>
                </a:solidFill>
              </a:rPr>
              <a:t>8 pairs at 5 km; 269 pairs from only 9 events at 100 km; just 53 training pairs in the event-held-out run.</a:t>
            </a:r>
            <a:endParaRPr lang="en-US" sz="1400" dirty="0"/>
          </a:p>
        </p:txBody>
      </p:sp>
      <p:sp>
        <p:nvSpPr>
          <p:cNvPr id="9" name="why-card1"/>
          <p:cNvSpPr/>
          <p:nvPr/>
        </p:nvSpPr>
        <p:spPr>
          <a:xfrm>
            <a:off x="6199632" y="1828800"/>
            <a:ext cx="5440680" cy="2057400"/>
          </a:xfrm>
          <a:prstGeom prst="roundRect">
            <a:avLst>
              <a:gd name="adj" fmla="val 4444"/>
            </a:avLst>
          </a:prstGeom>
          <a:solidFill>
            <a:schemeClr val="bg2"/>
          </a:solidFill>
          <a:ln w="12700">
            <a:solidFill>
              <a:schemeClr val="bg2"/>
            </a:solidFill>
            <a:prstDash val="solid"/>
          </a:ln>
        </p:spPr>
      </p:sp>
      <p:sp>
        <p:nvSpPr>
          <p:cNvPr id="10" name="why-icon1-bg"/>
          <p:cNvSpPr/>
          <p:nvPr/>
        </p:nvSpPr>
        <p:spPr>
          <a:xfrm>
            <a:off x="6428232" y="2103120"/>
            <a:ext cx="685800" cy="685800"/>
          </a:xfrm>
          <a:prstGeom prst="ellipse">
            <a:avLst/>
          </a:prstGeom>
          <a:solidFill>
            <a:srgbClr val="B4472A"/>
          </a:solidFill>
          <a:ln w="12700">
            <a:solidFill>
              <a:srgbClr val="B4472A"/>
            </a:solidFill>
            <a:prstDash val="solid"/>
          </a:ln>
        </p:spPr>
      </p:sp>
      <p:pic>
        <p:nvPicPr>
          <p:cNvPr id="11" name="why-icon1" descr="why-icon1"/>
          <p:cNvPicPr>
            <a:picLocks noChangeAspect="1"/>
          </p:cNvPicPr>
          <p:nvPr/>
        </p:nvPicPr>
        <p:blipFill>
          <a:blip r:embed="rId4"/>
          <a:stretch>
            <a:fillRect/>
          </a:stretch>
        </p:blipFill>
        <p:spPr>
          <a:xfrm>
            <a:off x="6599682" y="2274570"/>
            <a:ext cx="342900" cy="342900"/>
          </a:xfrm>
          <a:prstGeom prst="rect">
            <a:avLst/>
          </a:prstGeom>
        </p:spPr>
      </p:pic>
      <p:sp>
        <p:nvSpPr>
          <p:cNvPr id="12" name="why-body1"/>
          <p:cNvSpPr txBox="1"/>
          <p:nvPr/>
        </p:nvSpPr>
        <p:spPr>
          <a:xfrm>
            <a:off x="7342632" y="2011680"/>
            <a:ext cx="4114800" cy="1737360"/>
          </a:xfrm>
          <a:prstGeom prst="rect">
            <a:avLst/>
          </a:prstGeom>
          <a:noFill/>
          <a:ln/>
        </p:spPr>
        <p:txBody>
          <a:bodyPr wrap="square" lIns="0" tIns="0" rIns="0" bIns="0" rtlCol="0" anchor="ctr"/>
          <a:lstStyle/>
          <a:p>
            <a:pPr marL="0" indent="0">
              <a:spcAft>
                <a:spcPts val="400"/>
              </a:spcAft>
              <a:buNone/>
            </a:pPr>
            <a:r>
              <a:rPr lang="en-US" sz="1700" b="1" dirty="0">
                <a:solidFill>
                  <a:schemeClr val="tx1"/>
                </a:solidFill>
              </a:rPr>
              <a:t>Dependent observations</a:t>
            </a:r>
            <a:endParaRPr lang="en-US" sz="1400" dirty="0"/>
          </a:p>
          <a:p>
            <a:pPr marL="0" indent="0">
              <a:buNone/>
            </a:pPr>
            <a:r>
              <a:rPr lang="en-US" sz="1600" dirty="0">
                <a:solidFill>
                  <a:schemeClr val="tx1"/>
                </a:solidFill>
              </a:rPr>
              <a:t>Pairs reuse the same stations and events. A random pair-level split puts related pairs in both train and test.</a:t>
            </a:r>
            <a:endParaRPr lang="en-US" sz="1400" dirty="0"/>
          </a:p>
        </p:txBody>
      </p:sp>
      <p:sp>
        <p:nvSpPr>
          <p:cNvPr id="13" name="why-card2"/>
          <p:cNvSpPr/>
          <p:nvPr/>
        </p:nvSpPr>
        <p:spPr>
          <a:xfrm>
            <a:off x="548640" y="4069080"/>
            <a:ext cx="5440680" cy="2057400"/>
          </a:xfrm>
          <a:prstGeom prst="roundRect">
            <a:avLst>
              <a:gd name="adj" fmla="val 4444"/>
            </a:avLst>
          </a:prstGeom>
          <a:solidFill>
            <a:schemeClr val="bg2"/>
          </a:solidFill>
          <a:ln w="12700">
            <a:solidFill>
              <a:schemeClr val="bg2"/>
            </a:solidFill>
            <a:prstDash val="solid"/>
          </a:ln>
        </p:spPr>
      </p:sp>
      <p:sp>
        <p:nvSpPr>
          <p:cNvPr id="14" name="why-icon2-bg"/>
          <p:cNvSpPr/>
          <p:nvPr/>
        </p:nvSpPr>
        <p:spPr>
          <a:xfrm>
            <a:off x="777240" y="4343400"/>
            <a:ext cx="685800" cy="685800"/>
          </a:xfrm>
          <a:prstGeom prst="ellipse">
            <a:avLst/>
          </a:prstGeom>
          <a:solidFill>
            <a:srgbClr val="B4472A"/>
          </a:solidFill>
          <a:ln w="12700">
            <a:solidFill>
              <a:srgbClr val="B4472A"/>
            </a:solidFill>
            <a:prstDash val="solid"/>
          </a:ln>
        </p:spPr>
      </p:sp>
      <p:pic>
        <p:nvPicPr>
          <p:cNvPr id="15" name="why-icon2" descr="why-icon2"/>
          <p:cNvPicPr>
            <a:picLocks noChangeAspect="1"/>
          </p:cNvPicPr>
          <p:nvPr/>
        </p:nvPicPr>
        <p:blipFill>
          <a:blip r:embed="rId5"/>
          <a:stretch>
            <a:fillRect/>
          </a:stretch>
        </p:blipFill>
        <p:spPr>
          <a:xfrm>
            <a:off x="948690" y="4514850"/>
            <a:ext cx="342900" cy="342900"/>
          </a:xfrm>
          <a:prstGeom prst="rect">
            <a:avLst/>
          </a:prstGeom>
        </p:spPr>
      </p:pic>
      <p:sp>
        <p:nvSpPr>
          <p:cNvPr id="16" name="why-body2"/>
          <p:cNvSpPr txBox="1"/>
          <p:nvPr/>
        </p:nvSpPr>
        <p:spPr>
          <a:xfrm>
            <a:off x="1691640" y="4251960"/>
            <a:ext cx="4114800" cy="1737360"/>
          </a:xfrm>
          <a:prstGeom prst="rect">
            <a:avLst/>
          </a:prstGeom>
          <a:noFill/>
          <a:ln/>
        </p:spPr>
        <p:txBody>
          <a:bodyPr wrap="square" lIns="0" tIns="0" rIns="0" bIns="0" rtlCol="0" anchor="ctr"/>
          <a:lstStyle/>
          <a:p>
            <a:pPr marL="0" indent="0">
              <a:spcAft>
                <a:spcPts val="400"/>
              </a:spcAft>
              <a:buNone/>
            </a:pPr>
            <a:r>
              <a:rPr lang="en-US" sz="1700" b="1" dirty="0">
                <a:solidFill>
                  <a:schemeClr val="tx1"/>
                </a:solidFill>
              </a:rPr>
              <a:t>A different regime from the paper</a:t>
            </a:r>
            <a:endParaRPr lang="en-US" sz="1400" dirty="0"/>
          </a:p>
          <a:p>
            <a:pPr marL="0" indent="0">
              <a:buNone/>
            </a:pPr>
            <a:r>
              <a:rPr lang="en-US" sz="1600" dirty="0">
                <a:solidFill>
                  <a:schemeClr val="tx1"/>
                </a:solidFill>
              </a:rPr>
              <a:t>The paper's signal comes from stations within 5 km. Our 100 km pairs include far-apart sites, where we expect weaker coupling (hypothesis, untested).</a:t>
            </a:r>
            <a:endParaRPr lang="en-US" sz="1400" dirty="0"/>
          </a:p>
        </p:txBody>
      </p:sp>
      <p:sp>
        <p:nvSpPr>
          <p:cNvPr id="17" name="why-card3"/>
          <p:cNvSpPr/>
          <p:nvPr/>
        </p:nvSpPr>
        <p:spPr>
          <a:xfrm>
            <a:off x="6199632" y="4069080"/>
            <a:ext cx="5440680" cy="2057400"/>
          </a:xfrm>
          <a:prstGeom prst="roundRect">
            <a:avLst>
              <a:gd name="adj" fmla="val 4444"/>
            </a:avLst>
          </a:prstGeom>
          <a:solidFill>
            <a:schemeClr val="bg2"/>
          </a:solidFill>
          <a:ln w="12700">
            <a:solidFill>
              <a:schemeClr val="bg2"/>
            </a:solidFill>
            <a:prstDash val="solid"/>
          </a:ln>
        </p:spPr>
      </p:sp>
      <p:sp>
        <p:nvSpPr>
          <p:cNvPr id="18" name="why-icon3-bg"/>
          <p:cNvSpPr/>
          <p:nvPr/>
        </p:nvSpPr>
        <p:spPr>
          <a:xfrm>
            <a:off x="6428232" y="4343400"/>
            <a:ext cx="685800" cy="685800"/>
          </a:xfrm>
          <a:prstGeom prst="ellipse">
            <a:avLst/>
          </a:prstGeom>
          <a:solidFill>
            <a:srgbClr val="B4472A"/>
          </a:solidFill>
          <a:ln w="12700">
            <a:solidFill>
              <a:srgbClr val="B4472A"/>
            </a:solidFill>
            <a:prstDash val="solid"/>
          </a:ln>
        </p:spPr>
      </p:sp>
      <p:pic>
        <p:nvPicPr>
          <p:cNvPr id="19" name="why-icon3" descr="why-icon3"/>
          <p:cNvPicPr>
            <a:picLocks noChangeAspect="1"/>
          </p:cNvPicPr>
          <p:nvPr/>
        </p:nvPicPr>
        <p:blipFill>
          <a:blip r:embed="rId6"/>
          <a:stretch>
            <a:fillRect/>
          </a:stretch>
        </p:blipFill>
        <p:spPr>
          <a:xfrm>
            <a:off x="6599682" y="4514850"/>
            <a:ext cx="342900" cy="342900"/>
          </a:xfrm>
          <a:prstGeom prst="rect">
            <a:avLst/>
          </a:prstGeom>
        </p:spPr>
      </p:pic>
      <p:sp>
        <p:nvSpPr>
          <p:cNvPr id="20" name="why-body3"/>
          <p:cNvSpPr txBox="1"/>
          <p:nvPr/>
        </p:nvSpPr>
        <p:spPr>
          <a:xfrm>
            <a:off x="7342632" y="4251960"/>
            <a:ext cx="4114800" cy="1737360"/>
          </a:xfrm>
          <a:prstGeom prst="rect">
            <a:avLst/>
          </a:prstGeom>
          <a:noFill/>
          <a:ln/>
        </p:spPr>
        <p:txBody>
          <a:bodyPr wrap="square" lIns="0" tIns="0" rIns="0" bIns="0" rtlCol="0" anchor="ctr"/>
          <a:lstStyle/>
          <a:p>
            <a:pPr marL="0" indent="0">
              <a:spcAft>
                <a:spcPts val="400"/>
              </a:spcAft>
              <a:buNone/>
            </a:pPr>
            <a:r>
              <a:rPr lang="en-US" sz="1700" b="1" dirty="0">
                <a:solidFill>
                  <a:schemeClr val="tx1"/>
                </a:solidFill>
              </a:rPr>
              <a:t>Features not matched</a:t>
            </a:r>
            <a:endParaRPr lang="en-US" sz="1400" dirty="0"/>
          </a:p>
          <a:p>
            <a:pPr marL="0" indent="0">
              <a:buNone/>
            </a:pPr>
            <a:r>
              <a:rPr lang="en-US" sz="1600" dirty="0">
                <a:solidFill>
                  <a:schemeClr val="tx1"/>
                </a:solidFill>
              </a:rPr>
              <a:t>Our predictors are not confirmed to match the paper's 21 selected features (distance and PGA ranked highest there).</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320040"/>
          </a:xfrm>
          <a:prstGeom prst="rect">
            <a:avLst/>
          </a:prstGeom>
          <a:noFill/>
          <a:ln/>
        </p:spPr>
        <p:txBody>
          <a:bodyPr wrap="square" lIns="0" tIns="0" rIns="0" bIns="0" rtlCol="0" anchor="t"/>
          <a:lstStyle/>
          <a:p>
            <a:pPr marL="0" indent="0">
              <a:buNone/>
            </a:pPr>
            <a:r>
              <a:rPr lang="en-US" sz="1300" b="1" dirty="0">
                <a:solidFill>
                  <a:schemeClr val="accent1"/>
                </a:solidFill>
              </a:rPr>
              <a:t>11  ·  LIMITATIONS</a:t>
            </a:r>
            <a:endParaRPr lang="en-US" sz="1300" dirty="0"/>
          </a:p>
        </p:txBody>
      </p:sp>
      <p:sp>
        <p:nvSpPr>
          <p:cNvPr id="3" name="Text 0"/>
          <p:cNvSpPr>
            <a:spLocks noGrp="1"/>
          </p:cNvSpPr>
          <p:nvPr>
            <p:ph type="title" idx="101" hasCustomPrompt="1"/>
          </p:nvPr>
        </p:nvSpPr>
        <p:spPr>
          <a:xfrm>
            <a:off x="548640" y="658368"/>
            <a:ext cx="11091672" cy="960120"/>
          </a:xfrm>
          <a:prstGeom prst="rect">
            <a:avLst/>
          </a:prstGeom>
          <a:noFill/>
          <a:ln/>
        </p:spPr>
        <p:txBody>
          <a:bodyPr wrap="square" lIns="0" tIns="0" rIns="0" bIns="0" rtlCol="0" anchor="t"/>
          <a:lstStyle/>
          <a:p>
            <a:pPr marL="0" indent="0" algn="l">
              <a:buNone/>
            </a:pPr>
            <a:r>
              <a:rPr lang="en-US" sz="3200" b="1" dirty="0">
                <a:solidFill>
                  <a:schemeClr val="bg1"/>
                </a:solidFill>
              </a:rPr>
              <a:t>Limitations and what we still need to verify</a:t>
            </a:r>
            <a:endParaRPr lang="en-US" sz="3200" dirty="0"/>
          </a:p>
        </p:txBody>
      </p:sp>
      <p:sp>
        <p:nvSpPr>
          <p:cNvPr id="5" name="limits-card"/>
          <p:cNvSpPr txBox="1"/>
          <p:nvPr/>
        </p:nvSpPr>
        <p:spPr>
          <a:xfrm>
            <a:off x="548640" y="1828800"/>
            <a:ext cx="5440680" cy="3337560"/>
          </a:xfrm>
          <a:prstGeom prst="roundRect">
            <a:avLst>
              <a:gd name="adj" fmla="val 2740"/>
            </a:avLst>
          </a:prstGeom>
          <a:solidFill>
            <a:schemeClr val="bg2"/>
          </a:solidFill>
          <a:ln/>
        </p:spPr>
        <p:txBody>
          <a:bodyPr wrap="square" lIns="177800" tIns="177800" rIns="177800" bIns="177800" rtlCol="0" anchor="t"/>
          <a:lstStyle/>
          <a:p>
            <a:pPr marL="0" indent="0">
              <a:spcAft>
                <a:spcPts val="400"/>
              </a:spcAft>
              <a:buNone/>
            </a:pPr>
            <a:r>
              <a:rPr lang="en-US" sz="1300" b="1" dirty="0">
                <a:solidFill>
                  <a:schemeClr val="accent5"/>
                </a:solidFill>
              </a:rPr>
              <a:t>DATA AND SETUP LIMITS</a:t>
            </a:r>
            <a:endParaRPr lang="en-US" sz="1500" dirty="0"/>
          </a:p>
          <a:p>
            <a:pPr marL="203200" indent="-203200">
              <a:spcAft>
                <a:spcPts val="700"/>
              </a:spcAft>
              <a:buSzPct val="100000"/>
              <a:buChar char="•"/>
            </a:pPr>
            <a:r>
              <a:rPr lang="en-US" sz="1800" dirty="0">
                <a:solidFill>
                  <a:schemeClr val="tx1"/>
                </a:solidFill>
              </a:rPr>
              <a:t>Only 8 pairs within 5 km: too few to estimate performance</a:t>
            </a:r>
            <a:endParaRPr lang="en-US" sz="1500" dirty="0"/>
          </a:p>
          <a:p>
            <a:pPr marL="203200" indent="-203200">
              <a:spcAft>
                <a:spcPts val="700"/>
              </a:spcAft>
              <a:buSzPct val="100000"/>
              <a:buChar char="•"/>
            </a:pPr>
            <a:r>
              <a:rPr lang="en-US" sz="1800" dirty="0">
                <a:solidFill>
                  <a:schemeClr val="tx1"/>
                </a:solidFill>
              </a:rPr>
              <a:t>Limited, non-random waveform subset (PEER access limits)</a:t>
            </a:r>
            <a:endParaRPr lang="en-US" sz="1500" dirty="0"/>
          </a:p>
          <a:p>
            <a:pPr marL="203200" indent="-203200">
              <a:spcAft>
                <a:spcPts val="700"/>
              </a:spcAft>
              <a:buSzPct val="100000"/>
              <a:buChar char="•"/>
            </a:pPr>
            <a:r>
              <a:rPr lang="en-US" sz="1800" dirty="0">
                <a:solidFill>
                  <a:schemeClr val="tx1"/>
                </a:solidFill>
              </a:rPr>
              <a:t>The 100 km analysis differs from the paper's 5 km rule</a:t>
            </a:r>
            <a:endParaRPr lang="en-US" sz="1500" dirty="0"/>
          </a:p>
          <a:p>
            <a:pPr marL="203200" indent="-203200">
              <a:spcAft>
                <a:spcPts val="700"/>
              </a:spcAft>
              <a:buSzPct val="100000"/>
              <a:buChar char="•"/>
            </a:pPr>
            <a:r>
              <a:rPr lang="en-US" sz="1800" dirty="0">
                <a:solidFill>
                  <a:schemeClr val="tx1"/>
                </a:solidFill>
              </a:rPr>
              <a:t>Dependent pairs and only 9 events make results unstable</a:t>
            </a:r>
            <a:endParaRPr lang="en-US" sz="1500" dirty="0"/>
          </a:p>
        </p:txBody>
      </p:sp>
      <p:sp>
        <p:nvSpPr>
          <p:cNvPr id="6" name="verify-card"/>
          <p:cNvSpPr txBox="1"/>
          <p:nvPr/>
        </p:nvSpPr>
        <p:spPr>
          <a:xfrm>
            <a:off x="6199632" y="1828800"/>
            <a:ext cx="5440680" cy="3337560"/>
          </a:xfrm>
          <a:prstGeom prst="roundRect">
            <a:avLst>
              <a:gd name="adj" fmla="val 2740"/>
            </a:avLst>
          </a:prstGeom>
          <a:solidFill>
            <a:schemeClr val="bg2"/>
          </a:solidFill>
          <a:ln/>
        </p:spPr>
        <p:txBody>
          <a:bodyPr wrap="square" lIns="177800" tIns="177800" rIns="177800" bIns="177800" rtlCol="0" anchor="t"/>
          <a:lstStyle/>
          <a:p>
            <a:pPr marL="0" indent="0">
              <a:spcAft>
                <a:spcPts val="400"/>
              </a:spcAft>
              <a:buNone/>
            </a:pPr>
            <a:r>
              <a:rPr lang="en-US" sz="1300" b="1" dirty="0">
                <a:solidFill>
                  <a:schemeClr val="accent5"/>
                </a:solidFill>
              </a:rPr>
              <a:t>STILL TO VERIFY</a:t>
            </a:r>
            <a:endParaRPr lang="en-US" sz="1500" dirty="0"/>
          </a:p>
          <a:p>
            <a:pPr marL="203200" indent="-203200">
              <a:spcAft>
                <a:spcPts val="700"/>
              </a:spcAft>
              <a:buSzPct val="100000"/>
              <a:buChar char="•"/>
            </a:pPr>
            <a:r>
              <a:rPr lang="en-US" sz="1800" dirty="0">
                <a:solidFill>
                  <a:schemeClr val="tx1"/>
                </a:solidFill>
              </a:rPr>
              <a:t>AT2 filename azimuth suffix matches the intended component azimuth convention</a:t>
            </a:r>
            <a:endParaRPr lang="en-US" sz="1500" dirty="0"/>
          </a:p>
          <a:p>
            <a:pPr marL="203200" indent="-203200">
              <a:spcAft>
                <a:spcPts val="700"/>
              </a:spcAft>
              <a:buSzPct val="100000"/>
              <a:buChar char="•"/>
            </a:pPr>
            <a:r>
              <a:rPr lang="en-US" sz="1800" dirty="0">
                <a:solidFill>
                  <a:schemeClr val="tx1"/>
                </a:solidFill>
              </a:rPr>
              <a:t>1 s response period and orientation target match the paper's definition, line by line</a:t>
            </a:r>
            <a:endParaRPr lang="en-US" sz="1500" dirty="0"/>
          </a:p>
          <a:p>
            <a:pPr marL="203200" indent="-203200">
              <a:spcAft>
                <a:spcPts val="700"/>
              </a:spcAft>
              <a:buSzPct val="100000"/>
              <a:buChar char="•"/>
            </a:pPr>
            <a:r>
              <a:rPr lang="en-US" sz="1800" dirty="0">
                <a:solidFill>
                  <a:schemeClr val="tx1"/>
                </a:solidFill>
              </a:rPr>
              <a:t>Predictor set versus the paper's 21 selected features</a:t>
            </a:r>
            <a:endParaRPr lang="en-US" sz="1500" dirty="0"/>
          </a:p>
        </p:txBody>
      </p:sp>
      <p:sp>
        <p:nvSpPr>
          <p:cNvPr id="7" name="scope-box"/>
          <p:cNvSpPr/>
          <p:nvPr/>
        </p:nvSpPr>
        <p:spPr>
          <a:xfrm>
            <a:off x="548640" y="5394960"/>
            <a:ext cx="11091672" cy="731520"/>
          </a:xfrm>
          <a:prstGeom prst="roundRect">
            <a:avLst>
              <a:gd name="adj" fmla="val 12500"/>
            </a:avLst>
          </a:prstGeom>
          <a:solidFill>
            <a:schemeClr val="accent4"/>
          </a:solidFill>
          <a:ln w="12700">
            <a:solidFill>
              <a:schemeClr val="accent4"/>
            </a:solidFill>
            <a:prstDash val="solid"/>
          </a:ln>
        </p:spPr>
      </p:sp>
      <p:sp>
        <p:nvSpPr>
          <p:cNvPr id="8" name="scope-text"/>
          <p:cNvSpPr txBox="1"/>
          <p:nvPr/>
        </p:nvSpPr>
        <p:spPr>
          <a:xfrm>
            <a:off x="822960" y="5394960"/>
            <a:ext cx="10515600" cy="731520"/>
          </a:xfrm>
          <a:prstGeom prst="rect">
            <a:avLst/>
          </a:prstGeom>
          <a:noFill/>
          <a:ln/>
        </p:spPr>
        <p:txBody>
          <a:bodyPr wrap="square" lIns="0" tIns="0" rIns="0" bIns="0" rtlCol="0" anchor="ctr"/>
          <a:lstStyle/>
          <a:p>
            <a:pPr marL="0" indent="0">
              <a:buNone/>
            </a:pPr>
            <a:r>
              <a:rPr lang="en-US" sz="1500" dirty="0">
                <a:solidFill>
                  <a:schemeClr val="bg1"/>
                </a:solidFill>
              </a:rPr>
              <a:t>Scope: an exploratory implementation, not a verified reproduction. No claim is made about real-time prediction, early warning or engineering decisions.</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320040"/>
          </a:xfrm>
          <a:prstGeom prst="rect">
            <a:avLst/>
          </a:prstGeom>
          <a:noFill/>
          <a:ln/>
        </p:spPr>
        <p:txBody>
          <a:bodyPr wrap="square" lIns="0" tIns="0" rIns="0" bIns="0" rtlCol="0" anchor="t"/>
          <a:lstStyle/>
          <a:p>
            <a:pPr marL="0" indent="0">
              <a:buNone/>
            </a:pPr>
            <a:r>
              <a:rPr lang="en-US" sz="1300" b="1" dirty="0">
                <a:solidFill>
                  <a:schemeClr val="accent1"/>
                </a:solidFill>
              </a:rPr>
              <a:t>12  ·  CONCLUSION</a:t>
            </a:r>
            <a:endParaRPr lang="en-US" sz="1300" dirty="0"/>
          </a:p>
        </p:txBody>
      </p:sp>
      <p:sp>
        <p:nvSpPr>
          <p:cNvPr id="3" name="Text 0"/>
          <p:cNvSpPr>
            <a:spLocks noGrp="1"/>
          </p:cNvSpPr>
          <p:nvPr>
            <p:ph type="title" idx="101" hasCustomPrompt="1"/>
          </p:nvPr>
        </p:nvSpPr>
        <p:spPr>
          <a:xfrm>
            <a:off x="548640" y="658368"/>
            <a:ext cx="11091672" cy="960120"/>
          </a:xfrm>
          <a:prstGeom prst="rect">
            <a:avLst/>
          </a:prstGeom>
          <a:noFill/>
          <a:ln/>
        </p:spPr>
        <p:txBody>
          <a:bodyPr wrap="square" lIns="0" tIns="0" rIns="0" bIns="0" rtlCol="0" anchor="t"/>
          <a:lstStyle/>
          <a:p>
            <a:pPr marL="0" indent="0" algn="l">
              <a:buNone/>
            </a:pPr>
            <a:r>
              <a:rPr lang="en-US" sz="3200" b="1" dirty="0">
                <a:solidFill>
                  <a:schemeClr val="bg1"/>
                </a:solidFill>
              </a:rPr>
              <a:t>Conclusion and future work</a:t>
            </a:r>
            <a:endParaRPr lang="en-US" sz="3200" dirty="0"/>
          </a:p>
        </p:txBody>
      </p:sp>
      <p:sp>
        <p:nvSpPr>
          <p:cNvPr id="5" name="takeaway-box"/>
          <p:cNvSpPr/>
          <p:nvPr/>
        </p:nvSpPr>
        <p:spPr>
          <a:xfrm>
            <a:off x="548640" y="1828800"/>
            <a:ext cx="11091672" cy="960120"/>
          </a:xfrm>
          <a:prstGeom prst="roundRect">
            <a:avLst>
              <a:gd name="adj" fmla="val 9524"/>
            </a:avLst>
          </a:prstGeom>
          <a:solidFill>
            <a:schemeClr val="accent1"/>
          </a:solidFill>
          <a:ln w="12700">
            <a:solidFill>
              <a:schemeClr val="accent1"/>
            </a:solidFill>
            <a:prstDash val="solid"/>
          </a:ln>
        </p:spPr>
      </p:sp>
      <p:sp>
        <p:nvSpPr>
          <p:cNvPr id="6" name="takeaway-text"/>
          <p:cNvSpPr txBox="1"/>
          <p:nvPr/>
        </p:nvSpPr>
        <p:spPr>
          <a:xfrm>
            <a:off x="822960" y="1828800"/>
            <a:ext cx="10515600" cy="960120"/>
          </a:xfrm>
          <a:prstGeom prst="rect">
            <a:avLst/>
          </a:prstGeom>
          <a:noFill/>
          <a:ln/>
        </p:spPr>
        <p:txBody>
          <a:bodyPr wrap="square" lIns="0" tIns="0" rIns="0" bIns="0" rtlCol="0" anchor="ctr"/>
          <a:lstStyle/>
          <a:p>
            <a:pPr marL="0" indent="0">
              <a:buNone/>
            </a:pPr>
            <a:r>
              <a:rPr lang="en-US" sz="1900" b="1" dirty="0">
                <a:solidFill>
                  <a:schemeClr val="tx1"/>
                </a:solidFill>
              </a:rPr>
              <a:t>The workflow is implemented, but our results do not show that machine learning improves directionality prediction on this limited dataset.</a:t>
            </a:r>
            <a:endParaRPr lang="en-US" sz="1900" dirty="0"/>
          </a:p>
        </p:txBody>
      </p:sp>
      <p:sp>
        <p:nvSpPr>
          <p:cNvPr id="7" name="conc-box0"/>
          <p:cNvSpPr/>
          <p:nvPr/>
        </p:nvSpPr>
        <p:spPr>
          <a:xfrm>
            <a:off x="548640" y="3017520"/>
            <a:ext cx="6583680" cy="941832"/>
          </a:xfrm>
          <a:prstGeom prst="roundRect">
            <a:avLst>
              <a:gd name="adj" fmla="val 9709"/>
            </a:avLst>
          </a:prstGeom>
          <a:solidFill>
            <a:schemeClr val="bg2"/>
          </a:solidFill>
          <a:ln w="12700">
            <a:solidFill>
              <a:schemeClr val="bg2"/>
            </a:solidFill>
            <a:prstDash val="solid"/>
          </a:ln>
        </p:spPr>
      </p:sp>
      <p:sp>
        <p:nvSpPr>
          <p:cNvPr id="8" name="conc-num-bg0"/>
          <p:cNvSpPr/>
          <p:nvPr/>
        </p:nvSpPr>
        <p:spPr>
          <a:xfrm>
            <a:off x="731520" y="3255264"/>
            <a:ext cx="457200" cy="457200"/>
          </a:xfrm>
          <a:prstGeom prst="ellipse">
            <a:avLst/>
          </a:prstGeom>
          <a:solidFill>
            <a:srgbClr val="B4472A"/>
          </a:solidFill>
          <a:ln w="12700">
            <a:solidFill>
              <a:srgbClr val="B4472A"/>
            </a:solidFill>
            <a:prstDash val="solid"/>
          </a:ln>
        </p:spPr>
      </p:sp>
      <p:sp>
        <p:nvSpPr>
          <p:cNvPr id="9" name="conc-num0"/>
          <p:cNvSpPr txBox="1"/>
          <p:nvPr/>
        </p:nvSpPr>
        <p:spPr>
          <a:xfrm>
            <a:off x="731520" y="3255264"/>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10" name="conc-text0"/>
          <p:cNvSpPr txBox="1"/>
          <p:nvPr/>
        </p:nvSpPr>
        <p:spPr>
          <a:xfrm>
            <a:off x="1417320" y="3063240"/>
            <a:ext cx="5577840" cy="850392"/>
          </a:xfrm>
          <a:prstGeom prst="rect">
            <a:avLst/>
          </a:prstGeom>
          <a:noFill/>
          <a:ln/>
        </p:spPr>
        <p:txBody>
          <a:bodyPr wrap="square" lIns="0" tIns="0" rIns="0" bIns="0" rtlCol="0" anchor="ctr"/>
          <a:lstStyle/>
          <a:p>
            <a:pPr marL="0" indent="0">
              <a:buNone/>
            </a:pPr>
            <a:r>
              <a:rPr lang="en-US" sz="1500" dirty="0">
                <a:solidFill>
                  <a:schemeClr val="tx1"/>
                </a:solidFill>
              </a:rPr>
              <a:t>Built a modular pipeline from AT2 files to orientations, station pairs and three regression models.</a:t>
            </a:r>
            <a:endParaRPr lang="en-US" sz="1500" dirty="0"/>
          </a:p>
        </p:txBody>
      </p:sp>
      <p:sp>
        <p:nvSpPr>
          <p:cNvPr id="11" name="conc-box1"/>
          <p:cNvSpPr/>
          <p:nvPr/>
        </p:nvSpPr>
        <p:spPr>
          <a:xfrm>
            <a:off x="548640" y="4096512"/>
            <a:ext cx="6583680" cy="941832"/>
          </a:xfrm>
          <a:prstGeom prst="roundRect">
            <a:avLst>
              <a:gd name="adj" fmla="val 9709"/>
            </a:avLst>
          </a:prstGeom>
          <a:solidFill>
            <a:schemeClr val="bg2"/>
          </a:solidFill>
          <a:ln w="12700">
            <a:solidFill>
              <a:schemeClr val="bg2"/>
            </a:solidFill>
            <a:prstDash val="solid"/>
          </a:ln>
        </p:spPr>
      </p:sp>
      <p:sp>
        <p:nvSpPr>
          <p:cNvPr id="12" name="conc-num-bg1"/>
          <p:cNvSpPr/>
          <p:nvPr/>
        </p:nvSpPr>
        <p:spPr>
          <a:xfrm>
            <a:off x="731520" y="4334256"/>
            <a:ext cx="457200" cy="457200"/>
          </a:xfrm>
          <a:prstGeom prst="ellipse">
            <a:avLst/>
          </a:prstGeom>
          <a:solidFill>
            <a:srgbClr val="B4472A"/>
          </a:solidFill>
          <a:ln w="12700">
            <a:solidFill>
              <a:srgbClr val="B4472A"/>
            </a:solidFill>
            <a:prstDash val="solid"/>
          </a:ln>
        </p:spPr>
      </p:sp>
      <p:sp>
        <p:nvSpPr>
          <p:cNvPr id="13" name="conc-num1"/>
          <p:cNvSpPr txBox="1"/>
          <p:nvPr/>
        </p:nvSpPr>
        <p:spPr>
          <a:xfrm>
            <a:off x="731520" y="4334256"/>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4" name="conc-text1"/>
          <p:cNvSpPr txBox="1"/>
          <p:nvPr/>
        </p:nvSpPr>
        <p:spPr>
          <a:xfrm>
            <a:off x="1417320" y="4142232"/>
            <a:ext cx="5577840" cy="850392"/>
          </a:xfrm>
          <a:prstGeom prst="rect">
            <a:avLst/>
          </a:prstGeom>
          <a:noFill/>
          <a:ln/>
        </p:spPr>
        <p:txBody>
          <a:bodyPr wrap="square" lIns="0" tIns="0" rIns="0" bIns="0" rtlCol="0" anchor="ctr"/>
          <a:lstStyle/>
          <a:p>
            <a:pPr marL="0" indent="0">
              <a:buNone/>
            </a:pPr>
            <a:r>
              <a:rPr lang="en-US" sz="1500" dirty="0">
                <a:solidFill>
                  <a:schemeClr val="tx1"/>
                </a:solidFill>
              </a:rPr>
              <a:t>The strict 5 km sample (8 pairs, 5 events) is too small for reliable evaluation.</a:t>
            </a:r>
            <a:endParaRPr lang="en-US" sz="1500" dirty="0"/>
          </a:p>
        </p:txBody>
      </p:sp>
      <p:sp>
        <p:nvSpPr>
          <p:cNvPr id="15" name="conc-box2"/>
          <p:cNvSpPr/>
          <p:nvPr/>
        </p:nvSpPr>
        <p:spPr>
          <a:xfrm>
            <a:off x="548640" y="5175504"/>
            <a:ext cx="6583680" cy="941832"/>
          </a:xfrm>
          <a:prstGeom prst="roundRect">
            <a:avLst>
              <a:gd name="adj" fmla="val 9709"/>
            </a:avLst>
          </a:prstGeom>
          <a:solidFill>
            <a:schemeClr val="bg2"/>
          </a:solidFill>
          <a:ln w="12700">
            <a:solidFill>
              <a:schemeClr val="bg2"/>
            </a:solidFill>
            <a:prstDash val="solid"/>
          </a:ln>
        </p:spPr>
      </p:sp>
      <p:sp>
        <p:nvSpPr>
          <p:cNvPr id="16" name="conc-num-bg2"/>
          <p:cNvSpPr/>
          <p:nvPr/>
        </p:nvSpPr>
        <p:spPr>
          <a:xfrm>
            <a:off x="731520" y="5413248"/>
            <a:ext cx="457200" cy="457200"/>
          </a:xfrm>
          <a:prstGeom prst="ellipse">
            <a:avLst/>
          </a:prstGeom>
          <a:solidFill>
            <a:srgbClr val="B4472A"/>
          </a:solidFill>
          <a:ln w="12700">
            <a:solidFill>
              <a:srgbClr val="B4472A"/>
            </a:solidFill>
            <a:prstDash val="solid"/>
          </a:ln>
        </p:spPr>
      </p:sp>
      <p:sp>
        <p:nvSpPr>
          <p:cNvPr id="17" name="conc-num2"/>
          <p:cNvSpPr txBox="1"/>
          <p:nvPr/>
        </p:nvSpPr>
        <p:spPr>
          <a:xfrm>
            <a:off x="731520" y="541324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8" name="conc-text2"/>
          <p:cNvSpPr txBox="1"/>
          <p:nvPr/>
        </p:nvSpPr>
        <p:spPr>
          <a:xfrm>
            <a:off x="1417320" y="5221224"/>
            <a:ext cx="5577840" cy="850392"/>
          </a:xfrm>
          <a:prstGeom prst="rect">
            <a:avLst/>
          </a:prstGeom>
          <a:noFill/>
          <a:ln/>
        </p:spPr>
        <p:txBody>
          <a:bodyPr wrap="square" lIns="0" tIns="0" rIns="0" bIns="0" rtlCol="0" anchor="ctr"/>
          <a:lstStyle/>
          <a:p>
            <a:pPr marL="0" indent="0">
              <a:buNone/>
            </a:pPr>
            <a:r>
              <a:rPr lang="en-US" sz="1500" dirty="0">
                <a:solidFill>
                  <a:schemeClr val="tx1"/>
                </a:solidFill>
              </a:rPr>
              <a:t>In the 100 km experiments, Ridge and the MLP did not beat the simple baselines.</a:t>
            </a:r>
            <a:endParaRPr lang="en-US" sz="1500" dirty="0"/>
          </a:p>
        </p:txBody>
      </p:sp>
      <p:sp>
        <p:nvSpPr>
          <p:cNvPr id="19" name="future-card"/>
          <p:cNvSpPr txBox="1"/>
          <p:nvPr/>
        </p:nvSpPr>
        <p:spPr>
          <a:xfrm>
            <a:off x="7406640" y="3017520"/>
            <a:ext cx="4233672" cy="3108960"/>
          </a:xfrm>
          <a:prstGeom prst="roundRect">
            <a:avLst>
              <a:gd name="adj" fmla="val 2941"/>
            </a:avLst>
          </a:prstGeom>
          <a:solidFill>
            <a:schemeClr val="bg2"/>
          </a:solidFill>
          <a:ln/>
        </p:spPr>
        <p:txBody>
          <a:bodyPr wrap="square" lIns="177800" tIns="177800" rIns="177800" bIns="177800" rtlCol="0" anchor="t"/>
          <a:lstStyle/>
          <a:p>
            <a:pPr marL="0" indent="0">
              <a:spcAft>
                <a:spcPts val="400"/>
              </a:spcAft>
              <a:buNone/>
            </a:pPr>
            <a:r>
              <a:rPr lang="en-US" sz="1300" b="1" dirty="0">
                <a:solidFill>
                  <a:schemeClr val="accent5"/>
                </a:solidFill>
              </a:rPr>
              <a:t>FUTURE WORK</a:t>
            </a:r>
            <a:endParaRPr lang="en-US" sz="1500" dirty="0"/>
          </a:p>
          <a:p>
            <a:pPr marL="203200" indent="-203200">
              <a:spcAft>
                <a:spcPts val="700"/>
              </a:spcAft>
              <a:buSzPct val="100000"/>
              <a:buChar char="•"/>
            </a:pPr>
            <a:r>
              <a:rPr lang="en-US" sz="1400" dirty="0">
                <a:solidFill>
                  <a:schemeClr val="tx1"/>
                </a:solidFill>
              </a:rPr>
              <a:t>Use a larger share of NGA-West2 (paper: about 5,300 pairs at 5 km)</a:t>
            </a:r>
            <a:endParaRPr lang="en-US" sz="1500" dirty="0"/>
          </a:p>
          <a:p>
            <a:pPr marL="203200" indent="-203200">
              <a:spcAft>
                <a:spcPts val="700"/>
              </a:spcAft>
              <a:buSzPct val="100000"/>
              <a:buChar char="•"/>
            </a:pPr>
            <a:r>
              <a:rPr lang="en-US" sz="1400" dirty="0">
                <a:solidFill>
                  <a:schemeClr val="tx1"/>
                </a:solidFill>
              </a:rPr>
              <a:t>Reproduce the 21-predictor feature selection</a:t>
            </a:r>
            <a:endParaRPr lang="en-US" sz="1500" dirty="0"/>
          </a:p>
          <a:p>
            <a:pPr marL="203200" indent="-203200">
              <a:spcAft>
                <a:spcPts val="700"/>
              </a:spcAft>
              <a:buSzPct val="100000"/>
              <a:buChar char="•"/>
            </a:pPr>
            <a:r>
              <a:rPr lang="en-US" sz="1400" dirty="0">
                <a:solidFill>
                  <a:schemeClr val="tx1"/>
                </a:solidFill>
              </a:rPr>
              <a:t>Split by earthquake so no event is in both train and test</a:t>
            </a:r>
            <a:endParaRPr lang="en-US" sz="1500" dirty="0"/>
          </a:p>
          <a:p>
            <a:pPr marL="203200" indent="-203200">
              <a:spcAft>
                <a:spcPts val="700"/>
              </a:spcAft>
              <a:buSzPct val="100000"/>
              <a:buChar char="•"/>
            </a:pPr>
            <a:r>
              <a:rPr lang="en-US" sz="1400" dirty="0">
                <a:solidFill>
                  <a:schemeClr val="tx1"/>
                </a:solidFill>
              </a:rPr>
              <a:t>Check azimuth convention and the 1 s orientation definition</a:t>
            </a:r>
            <a:endParaRPr lang="en-US" sz="1500" dirty="0"/>
          </a:p>
          <a:p>
            <a:pPr marL="203200" indent="-203200">
              <a:spcAft>
                <a:spcPts val="700"/>
              </a:spcAft>
              <a:buSzPct val="100000"/>
              <a:buChar char="•"/>
            </a:pPr>
            <a:r>
              <a:rPr lang="en-US" sz="1400" dirty="0">
                <a:solidFill>
                  <a:schemeClr val="tx1"/>
                </a:solidFill>
              </a:rPr>
              <a:t>Predict mean and spread of Δθ, as the paper suggests</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320040"/>
          </a:xfrm>
          <a:prstGeom prst="rect">
            <a:avLst/>
          </a:prstGeom>
          <a:noFill/>
          <a:ln/>
        </p:spPr>
        <p:txBody>
          <a:bodyPr wrap="square" lIns="0" tIns="0" rIns="0" bIns="0" rtlCol="0" anchor="t"/>
          <a:lstStyle/>
          <a:p>
            <a:pPr marL="0" indent="0">
              <a:buNone/>
            </a:pPr>
            <a:r>
              <a:rPr lang="en-US" sz="1300" b="1" dirty="0">
                <a:solidFill>
                  <a:schemeClr val="accent1"/>
                </a:solidFill>
              </a:rPr>
              <a:t>13  ·  DEMO AND REPRODUCIBILITY</a:t>
            </a:r>
            <a:endParaRPr lang="en-US" sz="1300" dirty="0"/>
          </a:p>
        </p:txBody>
      </p:sp>
      <p:sp>
        <p:nvSpPr>
          <p:cNvPr id="3" name="Text 0"/>
          <p:cNvSpPr>
            <a:spLocks noGrp="1"/>
          </p:cNvSpPr>
          <p:nvPr>
            <p:ph type="title" idx="101" hasCustomPrompt="1"/>
          </p:nvPr>
        </p:nvSpPr>
        <p:spPr>
          <a:xfrm>
            <a:off x="548640" y="658368"/>
            <a:ext cx="11091672" cy="960120"/>
          </a:xfrm>
          <a:prstGeom prst="rect">
            <a:avLst/>
          </a:prstGeom>
          <a:noFill/>
          <a:ln/>
        </p:spPr>
        <p:txBody>
          <a:bodyPr wrap="square" lIns="0" tIns="0" rIns="0" bIns="0" rtlCol="0" anchor="t"/>
          <a:lstStyle/>
          <a:p>
            <a:pPr marL="0" indent="0" algn="l">
              <a:buNone/>
            </a:pPr>
            <a:r>
              <a:rPr lang="en-US" sz="3200" b="1" dirty="0">
                <a:solidFill>
                  <a:schemeClr val="bg1"/>
                </a:solidFill>
              </a:rPr>
              <a:t>Reproducible pipeline: Colab or local</a:t>
            </a:r>
            <a:endParaRPr lang="en-US" sz="3200" dirty="0"/>
          </a:p>
        </p:txBody>
      </p:sp>
      <p:sp>
        <p:nvSpPr>
          <p:cNvPr id="5" name="repo-card"/>
          <p:cNvSpPr/>
          <p:nvPr/>
        </p:nvSpPr>
        <p:spPr>
          <a:xfrm>
            <a:off x="548640" y="1828800"/>
            <a:ext cx="5760720" cy="4297680"/>
          </a:xfrm>
          <a:prstGeom prst="roundRect">
            <a:avLst>
              <a:gd name="adj" fmla="val 2128"/>
            </a:avLst>
          </a:prstGeom>
          <a:solidFill>
            <a:srgbClr val="1F2A21"/>
          </a:solidFill>
          <a:ln w="12700">
            <a:solidFill>
              <a:srgbClr val="1F2A21"/>
            </a:solidFill>
            <a:prstDash val="solid"/>
          </a:ln>
        </p:spPr>
      </p:sp>
      <p:sp>
        <p:nvSpPr>
          <p:cNvPr id="6" name="repo-head"/>
          <p:cNvSpPr txBox="1"/>
          <p:nvPr/>
        </p:nvSpPr>
        <p:spPr>
          <a:xfrm>
            <a:off x="822960" y="2011680"/>
            <a:ext cx="5029200" cy="274320"/>
          </a:xfrm>
          <a:prstGeom prst="rect">
            <a:avLst/>
          </a:prstGeom>
          <a:noFill/>
          <a:ln/>
        </p:spPr>
        <p:txBody>
          <a:bodyPr wrap="square" lIns="0" tIns="0" rIns="0" bIns="0" rtlCol="0" anchor="t"/>
          <a:lstStyle/>
          <a:p>
            <a:pPr marL="0" indent="0">
              <a:buNone/>
            </a:pPr>
            <a:r>
              <a:rPr lang="en-US" sz="1300" b="1" dirty="0">
                <a:solidFill>
                  <a:schemeClr val="accent1"/>
                </a:solidFill>
              </a:rPr>
              <a:t>REPOSITORY</a:t>
            </a:r>
            <a:endParaRPr lang="en-US" sz="1300" dirty="0"/>
          </a:p>
        </p:txBody>
      </p:sp>
      <p:sp>
        <p:nvSpPr>
          <p:cNvPr id="7" name="repo-tree"/>
          <p:cNvSpPr txBox="1"/>
          <p:nvPr/>
        </p:nvSpPr>
        <p:spPr>
          <a:xfrm>
            <a:off x="822960" y="2423160"/>
            <a:ext cx="5303520" cy="3566160"/>
          </a:xfrm>
          <a:prstGeom prst="rect">
            <a:avLst/>
          </a:prstGeom>
          <a:noFill/>
          <a:ln/>
        </p:spPr>
        <p:txBody>
          <a:bodyPr wrap="square" lIns="0" tIns="0" rIns="0" bIns="0" rtlCol="0" anchor="t"/>
          <a:lstStyle/>
          <a:p>
            <a:pPr marL="0" indent="0">
              <a:spcAft>
                <a:spcPts val="500"/>
              </a:spcAft>
              <a:buNone/>
            </a:pPr>
            <a:r>
              <a:rPr lang="en-US" sz="1400" dirty="0">
                <a:solidFill>
                  <a:srgbClr val="EFE5CB"/>
                </a:solidFill>
                <a:latin typeface="Courier New" pitchFamily="34" charset="0"/>
                <a:ea typeface="Courier New" pitchFamily="34" charset="-122"/>
                <a:cs typeface="Courier New" pitchFamily="34" charset="-120"/>
              </a:rPr>
              <a:t>ML-MiniProject/</a:t>
            </a:r>
            <a:endParaRPr lang="en-US" sz="1400" dirty="0"/>
          </a:p>
          <a:p>
            <a:pPr marL="0" indent="0">
              <a:spcAft>
                <a:spcPts val="500"/>
              </a:spcAft>
              <a:buNone/>
            </a:pPr>
            <a:r>
              <a:rPr lang="en-US" sz="1400" dirty="0">
                <a:solidFill>
                  <a:srgbClr val="EFE5CB"/>
                </a:solidFill>
                <a:latin typeface="Courier New" pitchFamily="34" charset="0"/>
                <a:ea typeface="Courier New" pitchFamily="34" charset="-122"/>
                <a:cs typeface="Courier New" pitchFamily="34" charset="-120"/>
              </a:rPr>
              <a:t>├── README.md, requirements.txt</a:t>
            </a:r>
            <a:endParaRPr lang="en-US" sz="1400" dirty="0"/>
          </a:p>
          <a:p>
            <a:pPr marL="0" indent="0">
              <a:spcAft>
                <a:spcPts val="500"/>
              </a:spcAft>
              <a:buNone/>
            </a:pPr>
            <a:r>
              <a:rPr lang="en-US" sz="1400" dirty="0">
                <a:solidFill>
                  <a:srgbClr val="EFE5CB"/>
                </a:solidFill>
                <a:latin typeface="Courier New" pitchFamily="34" charset="0"/>
                <a:ea typeface="Courier New" pitchFamily="34" charset="-122"/>
                <a:cs typeface="Courier New" pitchFamily="34" charset="-120"/>
              </a:rPr>
              <a:t>├── directionality_analysis.py</a:t>
            </a:r>
            <a:endParaRPr lang="en-US" sz="1400" dirty="0"/>
          </a:p>
          <a:p>
            <a:pPr marL="0" indent="0">
              <a:spcAft>
                <a:spcPts val="500"/>
              </a:spcAft>
              <a:buNone/>
            </a:pPr>
            <a:r>
              <a:rPr lang="en-US" sz="1400" dirty="0">
                <a:solidFill>
                  <a:srgbClr val="EFE5CB"/>
                </a:solidFill>
                <a:latin typeface="Courier New" pitchFamily="34" charset="0"/>
                <a:ea typeface="Courier New" pitchFamily="34" charset="-122"/>
                <a:cs typeface="Courier New" pitchFamily="34" charset="-120"/>
              </a:rPr>
              <a:t>├── paper_aligned_experiment.py</a:t>
            </a:r>
            <a:endParaRPr lang="en-US" sz="1400" dirty="0"/>
          </a:p>
          <a:p>
            <a:pPr marL="0" indent="0">
              <a:spcAft>
                <a:spcPts val="500"/>
              </a:spcAft>
              <a:buNone/>
            </a:pPr>
            <a:r>
              <a:rPr lang="en-US" sz="1400" dirty="0">
                <a:solidFill>
                  <a:srgbClr val="EFE5CB"/>
                </a:solidFill>
                <a:latin typeface="Courier New" pitchFamily="34" charset="0"/>
                <a:ea typeface="Courier New" pitchFamily="34" charset="-122"/>
                <a:cs typeface="Courier New" pitchFamily="34" charset="-120"/>
              </a:rPr>
              <a:t>├── 01–03 notebooks + Colab runner</a:t>
            </a:r>
            <a:endParaRPr lang="en-US" sz="1400" dirty="0"/>
          </a:p>
          <a:p>
            <a:pPr marL="0" indent="0">
              <a:spcAft>
                <a:spcPts val="500"/>
              </a:spcAft>
              <a:buNone/>
            </a:pPr>
            <a:r>
              <a:rPr lang="en-US" sz="1400" dirty="0">
                <a:solidFill>
                  <a:srgbClr val="EFE5CB"/>
                </a:solidFill>
                <a:latin typeface="Courier New" pitchFamily="34" charset="0"/>
                <a:ea typeface="Courier New" pitchFamily="34" charset="-122"/>
                <a:cs typeface="Courier New" pitchFamily="34" charset="-120"/>
              </a:rPr>
              <a:t>├── src/</a:t>
            </a:r>
            <a:endParaRPr lang="en-US" sz="1400" dirty="0"/>
          </a:p>
          <a:p>
            <a:pPr marL="0" indent="0">
              <a:spcAft>
                <a:spcPts val="500"/>
              </a:spcAft>
              <a:buNone/>
            </a:pPr>
            <a:r>
              <a:rPr lang="en-US" sz="1400" dirty="0">
                <a:solidFill>
                  <a:srgbClr val="EFE5CB"/>
                </a:solidFill>
                <a:latin typeface="Courier New" pitchFamily="34" charset="0"/>
                <a:ea typeface="Courier New" pitchFamily="34" charset="-122"/>
                <a:cs typeface="Courier New" pitchFamily="34" charset="-120"/>
              </a:rPr>
              <a:t>│   ├── records.py, waveforms.py</a:t>
            </a:r>
            <a:endParaRPr lang="en-US" sz="1400" dirty="0"/>
          </a:p>
          <a:p>
            <a:pPr marL="0" indent="0">
              <a:spcAft>
                <a:spcPts val="500"/>
              </a:spcAft>
              <a:buNone/>
            </a:pPr>
            <a:r>
              <a:rPr lang="en-US" sz="1400" dirty="0">
                <a:solidFill>
                  <a:srgbClr val="EFE5CB"/>
                </a:solidFill>
                <a:latin typeface="Courier New" pitchFamily="34" charset="0"/>
                <a:ea typeface="Courier New" pitchFamily="34" charset="-122"/>
                <a:cs typeface="Courier New" pitchFamily="34" charset="-120"/>
              </a:rPr>
              <a:t>│   ├── metadata.py, pairs.py</a:t>
            </a:r>
            <a:endParaRPr lang="en-US" sz="1400" dirty="0"/>
          </a:p>
          <a:p>
            <a:pPr marL="0" indent="0">
              <a:spcAft>
                <a:spcPts val="500"/>
              </a:spcAft>
              <a:buNone/>
            </a:pPr>
            <a:r>
              <a:rPr lang="en-US" sz="1400" dirty="0">
                <a:solidFill>
                  <a:srgbClr val="EFE5CB"/>
                </a:solidFill>
                <a:latin typeface="Courier New" pitchFamily="34" charset="0"/>
                <a:ea typeface="Courier New" pitchFamily="34" charset="-122"/>
                <a:cs typeface="Courier New" pitchFamily="34" charset="-120"/>
              </a:rPr>
              <a:t>│   └── models.py, pipeline.py</a:t>
            </a:r>
            <a:endParaRPr lang="en-US" sz="1400" dirty="0"/>
          </a:p>
          <a:p>
            <a:pPr marL="0" indent="0">
              <a:spcAft>
                <a:spcPts val="500"/>
              </a:spcAft>
              <a:buNone/>
            </a:pPr>
            <a:r>
              <a:rPr lang="en-US" sz="1400" dirty="0">
                <a:solidFill>
                  <a:srgbClr val="EFE5CB"/>
                </a:solidFill>
                <a:latin typeface="Courier New" pitchFamily="34" charset="0"/>
                <a:ea typeface="Courier New" pitchFamily="34" charset="-122"/>
                <a:cs typeface="Courier New" pitchFamily="34" charset="-120"/>
              </a:rPr>
              <a:t>└── outputs/  (CSV, JSON, plots)</a:t>
            </a:r>
            <a:br>
              <a:rPr lang="en-US" sz="1400" dirty="0">
                <a:solidFill>
                  <a:srgbClr val="EFE5CB"/>
                </a:solidFill>
                <a:latin typeface="Courier New" pitchFamily="34" charset="0"/>
                <a:ea typeface="Courier New" pitchFamily="34" charset="-122"/>
                <a:cs typeface="Courier New" pitchFamily="34" charset="-120"/>
              </a:rPr>
            </a:br>
            <a:endParaRPr lang="en-US" sz="1400" dirty="0">
              <a:solidFill>
                <a:srgbClr val="EFE5CB"/>
              </a:solidFill>
              <a:latin typeface="Courier New" pitchFamily="34" charset="0"/>
              <a:ea typeface="Courier New" pitchFamily="34" charset="-122"/>
              <a:cs typeface="Courier New" pitchFamily="34" charset="-120"/>
            </a:endParaRPr>
          </a:p>
        </p:txBody>
      </p:sp>
      <p:sp>
        <p:nvSpPr>
          <p:cNvPr id="8" name="run-num-bg0"/>
          <p:cNvSpPr/>
          <p:nvPr/>
        </p:nvSpPr>
        <p:spPr>
          <a:xfrm>
            <a:off x="6583680" y="1901952"/>
            <a:ext cx="457200" cy="457200"/>
          </a:xfrm>
          <a:prstGeom prst="ellipse">
            <a:avLst/>
          </a:prstGeom>
          <a:solidFill>
            <a:srgbClr val="F08A4B"/>
          </a:solidFill>
          <a:ln w="12700">
            <a:solidFill>
              <a:srgbClr val="F08A4B"/>
            </a:solidFill>
            <a:prstDash val="solid"/>
          </a:ln>
        </p:spPr>
      </p:sp>
      <p:sp>
        <p:nvSpPr>
          <p:cNvPr id="9" name="run-num0"/>
          <p:cNvSpPr txBox="1"/>
          <p:nvPr/>
        </p:nvSpPr>
        <p:spPr>
          <a:xfrm>
            <a:off x="6583680" y="1901952"/>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10" name="run-step0"/>
          <p:cNvSpPr txBox="1"/>
          <p:nvPr/>
        </p:nvSpPr>
        <p:spPr>
          <a:xfrm>
            <a:off x="7223760" y="1828800"/>
            <a:ext cx="4416552" cy="685800"/>
          </a:xfrm>
          <a:prstGeom prst="rect">
            <a:avLst/>
          </a:prstGeom>
          <a:noFill/>
          <a:ln/>
        </p:spPr>
        <p:txBody>
          <a:bodyPr wrap="square" lIns="0" tIns="0" rIns="0" bIns="0" rtlCol="0" anchor="ctr"/>
          <a:lstStyle/>
          <a:p>
            <a:pPr marL="0" indent="0">
              <a:buNone/>
            </a:pPr>
            <a:r>
              <a:rPr lang="en-US" sz="1500" dirty="0">
                <a:solidFill>
                  <a:schemeClr val="bg2"/>
                </a:solidFill>
              </a:rPr>
              <a:t>Upload the repo ZIP to Google Drive and extract it</a:t>
            </a:r>
            <a:endParaRPr lang="en-US" sz="1500" dirty="0"/>
          </a:p>
        </p:txBody>
      </p:sp>
      <p:sp>
        <p:nvSpPr>
          <p:cNvPr id="11" name="run-num-bg1"/>
          <p:cNvSpPr/>
          <p:nvPr/>
        </p:nvSpPr>
        <p:spPr>
          <a:xfrm>
            <a:off x="6583680" y="2706624"/>
            <a:ext cx="457200" cy="457200"/>
          </a:xfrm>
          <a:prstGeom prst="ellipse">
            <a:avLst/>
          </a:prstGeom>
          <a:solidFill>
            <a:srgbClr val="F08A4B"/>
          </a:solidFill>
          <a:ln w="12700">
            <a:solidFill>
              <a:srgbClr val="F08A4B"/>
            </a:solidFill>
            <a:prstDash val="solid"/>
          </a:ln>
        </p:spPr>
      </p:sp>
      <p:sp>
        <p:nvSpPr>
          <p:cNvPr id="12" name="run-num1"/>
          <p:cNvSpPr txBox="1"/>
          <p:nvPr/>
        </p:nvSpPr>
        <p:spPr>
          <a:xfrm>
            <a:off x="6583680" y="2706624"/>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3" name="run-step1"/>
          <p:cNvSpPr txBox="1"/>
          <p:nvPr/>
        </p:nvSpPr>
        <p:spPr>
          <a:xfrm>
            <a:off x="7223760" y="2633472"/>
            <a:ext cx="4416552" cy="685800"/>
          </a:xfrm>
          <a:prstGeom prst="rect">
            <a:avLst/>
          </a:prstGeom>
          <a:noFill/>
          <a:ln/>
        </p:spPr>
        <p:txBody>
          <a:bodyPr wrap="square" lIns="0" tIns="0" rIns="0" bIns="0" rtlCol="0" anchor="ctr"/>
          <a:lstStyle/>
          <a:p>
            <a:pPr marL="0" indent="0">
              <a:buNone/>
            </a:pPr>
            <a:r>
              <a:rPr lang="en-US" sz="1500" dirty="0">
                <a:solidFill>
                  <a:schemeClr val="bg2"/>
                </a:solidFill>
              </a:rPr>
              <a:t>Keep the AT2 folder and NGA-West2 flatfile in your private Drive</a:t>
            </a:r>
            <a:endParaRPr lang="en-US" sz="1500" dirty="0"/>
          </a:p>
        </p:txBody>
      </p:sp>
      <p:sp>
        <p:nvSpPr>
          <p:cNvPr id="14" name="run-num-bg2"/>
          <p:cNvSpPr/>
          <p:nvPr/>
        </p:nvSpPr>
        <p:spPr>
          <a:xfrm>
            <a:off x="6583680" y="3511296"/>
            <a:ext cx="457200" cy="457200"/>
          </a:xfrm>
          <a:prstGeom prst="ellipse">
            <a:avLst/>
          </a:prstGeom>
          <a:solidFill>
            <a:srgbClr val="F08A4B"/>
          </a:solidFill>
          <a:ln w="12700">
            <a:solidFill>
              <a:srgbClr val="F08A4B"/>
            </a:solidFill>
            <a:prstDash val="solid"/>
          </a:ln>
        </p:spPr>
      </p:sp>
      <p:sp>
        <p:nvSpPr>
          <p:cNvPr id="15" name="run-num2"/>
          <p:cNvSpPr txBox="1"/>
          <p:nvPr/>
        </p:nvSpPr>
        <p:spPr>
          <a:xfrm>
            <a:off x="6583680" y="3511296"/>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6" name="run-step2"/>
          <p:cNvSpPr txBox="1"/>
          <p:nvPr/>
        </p:nvSpPr>
        <p:spPr>
          <a:xfrm>
            <a:off x="7223760" y="3438144"/>
            <a:ext cx="4416552" cy="685800"/>
          </a:xfrm>
          <a:prstGeom prst="rect">
            <a:avLst/>
          </a:prstGeom>
          <a:noFill/>
          <a:ln/>
        </p:spPr>
        <p:txBody>
          <a:bodyPr wrap="square" lIns="0" tIns="0" rIns="0" bIns="0" rtlCol="0" anchor="ctr"/>
          <a:lstStyle/>
          <a:p>
            <a:pPr marL="0" indent="0">
              <a:buNone/>
            </a:pPr>
            <a:r>
              <a:rPr lang="en-US" sz="1500" dirty="0">
                <a:solidFill>
                  <a:schemeClr val="bg2"/>
                </a:solidFill>
              </a:rPr>
              <a:t>Run the Colab notebook: installs dependencies, runs the pipeline, writes results</a:t>
            </a:r>
            <a:endParaRPr lang="en-US" sz="1500" dirty="0"/>
          </a:p>
        </p:txBody>
      </p:sp>
      <p:sp>
        <p:nvSpPr>
          <p:cNvPr id="17" name="run-num-bg3"/>
          <p:cNvSpPr/>
          <p:nvPr/>
        </p:nvSpPr>
        <p:spPr>
          <a:xfrm>
            <a:off x="6583680" y="4315968"/>
            <a:ext cx="457200" cy="457200"/>
          </a:xfrm>
          <a:prstGeom prst="ellipse">
            <a:avLst/>
          </a:prstGeom>
          <a:solidFill>
            <a:srgbClr val="F08A4B"/>
          </a:solidFill>
          <a:ln w="12700">
            <a:solidFill>
              <a:srgbClr val="F08A4B"/>
            </a:solidFill>
            <a:prstDash val="solid"/>
          </a:ln>
        </p:spPr>
      </p:sp>
      <p:sp>
        <p:nvSpPr>
          <p:cNvPr id="18" name="run-num3"/>
          <p:cNvSpPr txBox="1"/>
          <p:nvPr/>
        </p:nvSpPr>
        <p:spPr>
          <a:xfrm>
            <a:off x="6583680" y="4315968"/>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rPr>
              <a:t>4</a:t>
            </a:r>
            <a:endParaRPr lang="en-US" sz="1600" dirty="0"/>
          </a:p>
        </p:txBody>
      </p:sp>
      <p:sp>
        <p:nvSpPr>
          <p:cNvPr id="19" name="run-step3"/>
          <p:cNvSpPr txBox="1"/>
          <p:nvPr/>
        </p:nvSpPr>
        <p:spPr>
          <a:xfrm>
            <a:off x="7223760" y="4242816"/>
            <a:ext cx="4416552" cy="685800"/>
          </a:xfrm>
          <a:prstGeom prst="rect">
            <a:avLst/>
          </a:prstGeom>
          <a:noFill/>
          <a:ln/>
        </p:spPr>
        <p:txBody>
          <a:bodyPr wrap="square" lIns="0" tIns="0" rIns="0" bIns="0" rtlCol="0" anchor="ctr"/>
          <a:lstStyle/>
          <a:p>
            <a:pPr marL="0" indent="0">
              <a:buNone/>
            </a:pPr>
            <a:r>
              <a:rPr lang="en-US" sz="1500" dirty="0">
                <a:solidFill>
                  <a:schemeClr val="bg2"/>
                </a:solidFill>
              </a:rPr>
              <a:t>Run paper_aligned_experiment.py for the paper-informed experiment</a:t>
            </a:r>
            <a:endParaRPr lang="en-US" sz="1500" dirty="0"/>
          </a:p>
        </p:txBody>
      </p:sp>
      <p:sp>
        <p:nvSpPr>
          <p:cNvPr id="20" name="outputs-card"/>
          <p:cNvSpPr txBox="1"/>
          <p:nvPr/>
        </p:nvSpPr>
        <p:spPr>
          <a:xfrm>
            <a:off x="6583680" y="5120640"/>
            <a:ext cx="5056632" cy="1005840"/>
          </a:xfrm>
          <a:prstGeom prst="roundRect">
            <a:avLst>
              <a:gd name="adj" fmla="val 9091"/>
            </a:avLst>
          </a:prstGeom>
          <a:solidFill>
            <a:schemeClr val="bg2"/>
          </a:solidFill>
          <a:ln/>
        </p:spPr>
        <p:txBody>
          <a:bodyPr wrap="square" lIns="177800" tIns="177800" rIns="177800" bIns="177800" rtlCol="0" anchor="ctr"/>
          <a:lstStyle/>
          <a:p>
            <a:pPr marL="0" indent="0">
              <a:spcAft>
                <a:spcPts val="400"/>
              </a:spcAft>
              <a:buNone/>
            </a:pPr>
            <a:r>
              <a:rPr lang="en-US" sz="1400" dirty="0">
                <a:solidFill>
                  <a:schemeClr val="tx1"/>
                </a:solidFill>
              </a:rPr>
              <a:t>Each run writes CSV/JSON results and plots. Raw PEER data and credentials are never committed.</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914400"/>
            <a:ext cx="6675120" cy="1188720"/>
          </a:xfrm>
          <a:prstGeom prst="rect">
            <a:avLst/>
          </a:prstGeom>
          <a:noFill/>
          <a:ln/>
        </p:spPr>
        <p:txBody>
          <a:bodyPr wrap="square" lIns="0" tIns="0" rIns="0" bIns="0" rtlCol="0" anchor="t"/>
          <a:lstStyle/>
          <a:p>
            <a:pPr marL="0" indent="0" algn="l">
              <a:buNone/>
            </a:pPr>
            <a:r>
              <a:rPr lang="en-US" sz="5400" b="1" dirty="0">
                <a:solidFill>
                  <a:schemeClr val="bg1"/>
                </a:solidFill>
              </a:rPr>
              <a:t>Thank you</a:t>
            </a:r>
            <a:endParaRPr lang="en-US" sz="5400" dirty="0"/>
          </a:p>
        </p:txBody>
      </p:sp>
      <p:sp>
        <p:nvSpPr>
          <p:cNvPr id="4" name="questions"/>
          <p:cNvSpPr txBox="1"/>
          <p:nvPr/>
        </p:nvSpPr>
        <p:spPr>
          <a:xfrm>
            <a:off x="548640" y="2103120"/>
            <a:ext cx="6400800" cy="548640"/>
          </a:xfrm>
          <a:prstGeom prst="rect">
            <a:avLst/>
          </a:prstGeom>
          <a:noFill/>
          <a:ln/>
        </p:spPr>
        <p:txBody>
          <a:bodyPr wrap="square" lIns="0" tIns="0" rIns="0" bIns="0" rtlCol="0" anchor="t"/>
          <a:lstStyle/>
          <a:p>
            <a:pPr marL="0" indent="0">
              <a:buNone/>
            </a:pPr>
            <a:r>
              <a:rPr lang="en-US" sz="2400" b="1" dirty="0">
                <a:solidFill>
                  <a:schemeClr val="accent1"/>
                </a:solidFill>
              </a:rPr>
              <a:t>Questions?</a:t>
            </a:r>
            <a:endParaRPr lang="en-US" sz="2400" dirty="0"/>
          </a:p>
        </p:txBody>
      </p:sp>
      <p:sp>
        <p:nvSpPr>
          <p:cNvPr id="5" name="refs"/>
          <p:cNvSpPr txBox="1"/>
          <p:nvPr/>
        </p:nvSpPr>
        <p:spPr>
          <a:xfrm>
            <a:off x="548640" y="3200400"/>
            <a:ext cx="5852160" cy="2560320"/>
          </a:xfrm>
          <a:prstGeom prst="rect">
            <a:avLst/>
          </a:prstGeom>
          <a:noFill/>
          <a:ln/>
        </p:spPr>
        <p:txBody>
          <a:bodyPr wrap="square" lIns="0" tIns="0" rIns="0" bIns="0" rtlCol="0" anchor="t"/>
          <a:lstStyle/>
          <a:p>
            <a:pPr marL="0" indent="0">
              <a:spcAft>
                <a:spcPts val="600"/>
              </a:spcAft>
              <a:buNone/>
            </a:pPr>
            <a:r>
              <a:rPr lang="en-US" sz="1400" b="1" dirty="0">
                <a:solidFill>
                  <a:schemeClr val="accent1"/>
                </a:solidFill>
              </a:rPr>
              <a:t>References</a:t>
            </a:r>
            <a:endParaRPr lang="en-US" sz="1400" dirty="0"/>
          </a:p>
          <a:p>
            <a:pPr marL="0" indent="0">
              <a:spcAft>
                <a:spcPts val="800"/>
              </a:spcAft>
              <a:buNone/>
            </a:pPr>
            <a:r>
              <a:rPr lang="en-US" sz="1400" dirty="0">
                <a:solidFill>
                  <a:schemeClr val="bg2"/>
                </a:solidFill>
              </a:rPr>
              <a:t>Poulos, A. and Silva-Lopez, R. Detecting and predicting earthquake ground motion directionality patterns using machine learning tools. Blume Earthquake Engineering Center, Stanford University (supplied course paper).</a:t>
            </a:r>
            <a:endParaRPr lang="en-US" sz="1400" dirty="0"/>
          </a:p>
          <a:p>
            <a:pPr marL="0" indent="0">
              <a:buNone/>
            </a:pPr>
            <a:r>
              <a:rPr lang="en-US" sz="1400" dirty="0">
                <a:solidFill>
                  <a:schemeClr val="bg2"/>
                </a:solidFill>
              </a:rPr>
              <a:t>Ancheta, T. D. et al. (2014). NGA-West2 database. Earthquake Spectra, 30(3):989–1005.</a:t>
            </a:r>
            <a:endParaRPr lang="en-US" sz="1400" dirty="0"/>
          </a:p>
        </p:txBody>
      </p:sp>
      <p:sp>
        <p:nvSpPr>
          <p:cNvPr id="6" name="end-ring0"/>
          <p:cNvSpPr/>
          <p:nvPr/>
        </p:nvSpPr>
        <p:spPr>
          <a:xfrm>
            <a:off x="7040880" y="1280160"/>
            <a:ext cx="4572000" cy="4572000"/>
          </a:xfrm>
          <a:prstGeom prst="ellipse">
            <a:avLst/>
          </a:prstGeom>
          <a:ln w="19050">
            <a:solidFill>
              <a:schemeClr val="accent4"/>
            </a:solidFill>
            <a:prstDash val="solid"/>
          </a:ln>
        </p:spPr>
      </p:sp>
      <p:sp>
        <p:nvSpPr>
          <p:cNvPr id="7" name="end-ring1"/>
          <p:cNvSpPr/>
          <p:nvPr/>
        </p:nvSpPr>
        <p:spPr>
          <a:xfrm>
            <a:off x="7772400" y="2011680"/>
            <a:ext cx="3108960" cy="3108960"/>
          </a:xfrm>
          <a:prstGeom prst="ellipse">
            <a:avLst/>
          </a:prstGeom>
          <a:ln w="19050">
            <a:solidFill>
              <a:schemeClr val="accent4"/>
            </a:solidFill>
            <a:prstDash val="solid"/>
          </a:ln>
        </p:spPr>
      </p:sp>
      <p:sp>
        <p:nvSpPr>
          <p:cNvPr id="8" name="end-ring2"/>
          <p:cNvSpPr/>
          <p:nvPr/>
        </p:nvSpPr>
        <p:spPr>
          <a:xfrm>
            <a:off x="8503920" y="2743200"/>
            <a:ext cx="1645920" cy="1645920"/>
          </a:xfrm>
          <a:prstGeom prst="ellipse">
            <a:avLst/>
          </a:prstGeom>
          <a:ln w="19050">
            <a:solidFill>
              <a:schemeClr val="accent4"/>
            </a:solidFill>
            <a:prstDash val="solid"/>
          </a:ln>
        </p:spPr>
      </p:sp>
      <p:sp>
        <p:nvSpPr>
          <p:cNvPr id="9" name="end-xhair-h"/>
          <p:cNvSpPr/>
          <p:nvPr/>
        </p:nvSpPr>
        <p:spPr>
          <a:xfrm>
            <a:off x="6858000" y="3566160"/>
            <a:ext cx="4937760" cy="0"/>
          </a:xfrm>
          <a:prstGeom prst="line">
            <a:avLst/>
          </a:prstGeom>
          <a:noFill/>
          <a:ln w="12700">
            <a:solidFill>
              <a:srgbClr val="4F6C57"/>
            </a:solidFill>
            <a:prstDash val="dash"/>
          </a:ln>
        </p:spPr>
      </p:sp>
      <p:sp>
        <p:nvSpPr>
          <p:cNvPr id="10" name="end-xhair-v"/>
          <p:cNvSpPr/>
          <p:nvPr/>
        </p:nvSpPr>
        <p:spPr>
          <a:xfrm>
            <a:off x="9326880" y="1097280"/>
            <a:ext cx="0" cy="4937760"/>
          </a:xfrm>
          <a:prstGeom prst="line">
            <a:avLst/>
          </a:prstGeom>
          <a:noFill/>
          <a:ln w="12700">
            <a:solidFill>
              <a:srgbClr val="4F6C57"/>
            </a:solidFill>
            <a:prstDash val="dash"/>
          </a:ln>
        </p:spPr>
      </p:sp>
      <p:sp>
        <p:nvSpPr>
          <p:cNvPr id="11" name="end-rose-ref"/>
          <p:cNvSpPr/>
          <p:nvPr/>
        </p:nvSpPr>
        <p:spPr>
          <a:xfrm>
            <a:off x="9326880" y="3566160"/>
            <a:ext cx="2194560" cy="0"/>
          </a:xfrm>
          <a:prstGeom prst="line">
            <a:avLst/>
          </a:prstGeom>
          <a:noFill/>
          <a:ln w="19050">
            <a:solidFill>
              <a:srgbClr val="A9C4AE"/>
            </a:solidFill>
            <a:prstDash val="dash"/>
          </a:ln>
        </p:spPr>
      </p:sp>
      <p:sp>
        <p:nvSpPr>
          <p:cNvPr id="12" name="end-rose-axisA"/>
          <p:cNvSpPr/>
          <p:nvPr/>
        </p:nvSpPr>
        <p:spPr>
          <a:xfrm flipV="1">
            <a:off x="8693365" y="2542032"/>
            <a:ext cx="2407357" cy="1389888"/>
          </a:xfrm>
          <a:prstGeom prst="line">
            <a:avLst/>
          </a:prstGeom>
          <a:noFill/>
          <a:ln w="50800">
            <a:solidFill>
              <a:srgbClr val="F08A4B"/>
            </a:solidFill>
            <a:prstDash val="solid"/>
          </a:ln>
        </p:spPr>
      </p:sp>
      <p:sp>
        <p:nvSpPr>
          <p:cNvPr id="13" name="end-rose-axisB"/>
          <p:cNvSpPr/>
          <p:nvPr/>
        </p:nvSpPr>
        <p:spPr>
          <a:xfrm flipV="1">
            <a:off x="9137549" y="1940994"/>
            <a:ext cx="624793" cy="2331760"/>
          </a:xfrm>
          <a:prstGeom prst="line">
            <a:avLst/>
          </a:prstGeom>
          <a:noFill/>
          <a:ln w="50800">
            <a:solidFill>
              <a:srgbClr val="EFE5CB"/>
            </a:solidFill>
            <a:prstDash val="solid"/>
          </a:ln>
        </p:spPr>
      </p:sp>
      <p:sp>
        <p:nvSpPr>
          <p:cNvPr id="14" name="end-rose-arc0"/>
          <p:cNvSpPr/>
          <p:nvPr/>
        </p:nvSpPr>
        <p:spPr>
          <a:xfrm>
            <a:off x="10030691" y="3105348"/>
            <a:ext cx="24731" cy="40188"/>
          </a:xfrm>
          <a:prstGeom prst="line">
            <a:avLst/>
          </a:prstGeom>
          <a:noFill/>
          <a:ln w="31750">
            <a:solidFill>
              <a:srgbClr val="A9C4AE"/>
            </a:solidFill>
            <a:prstDash val="solid"/>
          </a:ln>
        </p:spPr>
      </p:sp>
      <p:sp>
        <p:nvSpPr>
          <p:cNvPr id="15" name="end-rose-arc1"/>
          <p:cNvSpPr/>
          <p:nvPr/>
        </p:nvSpPr>
        <p:spPr>
          <a:xfrm>
            <a:off x="10003746" y="3066610"/>
            <a:ext cx="26945" cy="38738"/>
          </a:xfrm>
          <a:prstGeom prst="line">
            <a:avLst/>
          </a:prstGeom>
          <a:noFill/>
          <a:ln w="31750">
            <a:solidFill>
              <a:srgbClr val="A9C4AE"/>
            </a:solidFill>
            <a:prstDash val="solid"/>
          </a:ln>
        </p:spPr>
      </p:sp>
      <p:sp>
        <p:nvSpPr>
          <p:cNvPr id="16" name="end-rose-arc2"/>
          <p:cNvSpPr/>
          <p:nvPr/>
        </p:nvSpPr>
        <p:spPr>
          <a:xfrm>
            <a:off x="9974671" y="3029444"/>
            <a:ext cx="29075" cy="37166"/>
          </a:xfrm>
          <a:prstGeom prst="line">
            <a:avLst/>
          </a:prstGeom>
          <a:noFill/>
          <a:ln w="31750">
            <a:solidFill>
              <a:srgbClr val="A9C4AE"/>
            </a:solidFill>
            <a:prstDash val="solid"/>
          </a:ln>
        </p:spPr>
      </p:sp>
      <p:sp>
        <p:nvSpPr>
          <p:cNvPr id="17" name="end-rose-arc3"/>
          <p:cNvSpPr/>
          <p:nvPr/>
        </p:nvSpPr>
        <p:spPr>
          <a:xfrm>
            <a:off x="9943558" y="2993966"/>
            <a:ext cx="31113" cy="35478"/>
          </a:xfrm>
          <a:prstGeom prst="line">
            <a:avLst/>
          </a:prstGeom>
          <a:noFill/>
          <a:ln w="31750">
            <a:solidFill>
              <a:srgbClr val="A9C4AE"/>
            </a:solidFill>
            <a:prstDash val="solid"/>
          </a:ln>
        </p:spPr>
      </p:sp>
      <p:sp>
        <p:nvSpPr>
          <p:cNvPr id="18" name="end-rose-arc4"/>
          <p:cNvSpPr/>
          <p:nvPr/>
        </p:nvSpPr>
        <p:spPr>
          <a:xfrm>
            <a:off x="9910505" y="2960289"/>
            <a:ext cx="33053" cy="33677"/>
          </a:xfrm>
          <a:prstGeom prst="line">
            <a:avLst/>
          </a:prstGeom>
          <a:noFill/>
          <a:ln w="31750">
            <a:solidFill>
              <a:srgbClr val="A9C4AE"/>
            </a:solidFill>
            <a:prstDash val="solid"/>
          </a:ln>
        </p:spPr>
      </p:sp>
      <p:sp>
        <p:nvSpPr>
          <p:cNvPr id="19" name="end-rose-arc5"/>
          <p:cNvSpPr/>
          <p:nvPr/>
        </p:nvSpPr>
        <p:spPr>
          <a:xfrm>
            <a:off x="9875615" y="2928518"/>
            <a:ext cx="34890" cy="31771"/>
          </a:xfrm>
          <a:prstGeom prst="line">
            <a:avLst/>
          </a:prstGeom>
          <a:noFill/>
          <a:ln w="31750">
            <a:solidFill>
              <a:srgbClr val="A9C4AE"/>
            </a:solidFill>
            <a:prstDash val="solid"/>
          </a:ln>
        </p:spPr>
      </p:sp>
      <p:sp>
        <p:nvSpPr>
          <p:cNvPr id="20" name="end-rose-arc6"/>
          <p:cNvSpPr/>
          <p:nvPr/>
        </p:nvSpPr>
        <p:spPr>
          <a:xfrm>
            <a:off x="9838999" y="2898753"/>
            <a:ext cx="36616" cy="29765"/>
          </a:xfrm>
          <a:prstGeom prst="line">
            <a:avLst/>
          </a:prstGeom>
          <a:noFill/>
          <a:ln w="31750">
            <a:solidFill>
              <a:srgbClr val="A9C4AE"/>
            </a:solidFill>
            <a:prstDash val="solid"/>
          </a:ln>
        </p:spPr>
      </p:sp>
      <p:sp>
        <p:nvSpPr>
          <p:cNvPr id="21" name="end-rose-arc7"/>
          <p:cNvSpPr/>
          <p:nvPr/>
        </p:nvSpPr>
        <p:spPr>
          <a:xfrm>
            <a:off x="9800772" y="2871088"/>
            <a:ext cx="38227" cy="27665"/>
          </a:xfrm>
          <a:prstGeom prst="line">
            <a:avLst/>
          </a:prstGeom>
          <a:noFill/>
          <a:ln w="31750">
            <a:solidFill>
              <a:srgbClr val="A9C4AE"/>
            </a:solidFill>
            <a:prstDash val="solid"/>
          </a:ln>
        </p:spPr>
      </p:sp>
      <p:sp>
        <p:nvSpPr>
          <p:cNvPr id="22" name="end-rose-arc8"/>
          <p:cNvSpPr/>
          <p:nvPr/>
        </p:nvSpPr>
        <p:spPr>
          <a:xfrm>
            <a:off x="9761053" y="2845610"/>
            <a:ext cx="39719" cy="25478"/>
          </a:xfrm>
          <a:prstGeom prst="line">
            <a:avLst/>
          </a:prstGeom>
          <a:noFill/>
          <a:ln w="31750">
            <a:solidFill>
              <a:srgbClr val="A9C4AE"/>
            </a:solidFill>
            <a:prstDash val="solid"/>
          </a:ln>
        </p:spPr>
      </p:sp>
      <p:sp>
        <p:nvSpPr>
          <p:cNvPr id="23" name="end-rose-arc9"/>
          <p:cNvSpPr/>
          <p:nvPr/>
        </p:nvSpPr>
        <p:spPr>
          <a:xfrm>
            <a:off x="9719969" y="2822400"/>
            <a:ext cx="41085" cy="23211"/>
          </a:xfrm>
          <a:prstGeom prst="line">
            <a:avLst/>
          </a:prstGeom>
          <a:noFill/>
          <a:ln w="31750">
            <a:solidFill>
              <a:srgbClr val="A9C4AE"/>
            </a:solidFill>
            <a:prstDash val="solid"/>
          </a:ln>
        </p:spPr>
      </p:sp>
      <p:sp>
        <p:nvSpPr>
          <p:cNvPr id="24" name="end-rose-arc10"/>
          <p:cNvSpPr/>
          <p:nvPr/>
        </p:nvSpPr>
        <p:spPr>
          <a:xfrm>
            <a:off x="9677647" y="2801529"/>
            <a:ext cx="42321" cy="20871"/>
          </a:xfrm>
          <a:prstGeom prst="line">
            <a:avLst/>
          </a:prstGeom>
          <a:noFill/>
          <a:ln w="31750">
            <a:solidFill>
              <a:srgbClr val="A9C4AE"/>
            </a:solidFill>
            <a:prstDash val="solid"/>
          </a:ln>
        </p:spPr>
      </p:sp>
      <p:sp>
        <p:nvSpPr>
          <p:cNvPr id="25" name="end-rose-arc11"/>
          <p:cNvSpPr/>
          <p:nvPr/>
        </p:nvSpPr>
        <p:spPr>
          <a:xfrm>
            <a:off x="9634222" y="2783064"/>
            <a:ext cx="43425" cy="18465"/>
          </a:xfrm>
          <a:prstGeom prst="line">
            <a:avLst/>
          </a:prstGeom>
          <a:noFill/>
          <a:ln w="31750">
            <a:solidFill>
              <a:srgbClr val="A9C4AE"/>
            </a:solidFill>
            <a:prstDash val="solid"/>
          </a:ln>
        </p:spPr>
      </p:sp>
      <p:sp>
        <p:nvSpPr>
          <p:cNvPr id="26" name="end-rose-arc12"/>
          <p:cNvSpPr/>
          <p:nvPr/>
        </p:nvSpPr>
        <p:spPr>
          <a:xfrm>
            <a:off x="9589830" y="2767063"/>
            <a:ext cx="44392" cy="16001"/>
          </a:xfrm>
          <a:prstGeom prst="line">
            <a:avLst/>
          </a:prstGeom>
          <a:noFill/>
          <a:ln w="31750">
            <a:solidFill>
              <a:srgbClr val="A9C4AE"/>
            </a:solidFill>
            <a:prstDash val="solid"/>
          </a:ln>
        </p:spPr>
      </p:sp>
      <p:sp>
        <p:nvSpPr>
          <p:cNvPr id="27" name="end-rose-arc13"/>
          <p:cNvSpPr/>
          <p:nvPr/>
        </p:nvSpPr>
        <p:spPr>
          <a:xfrm>
            <a:off x="9544611" y="2753577"/>
            <a:ext cx="45219" cy="13487"/>
          </a:xfrm>
          <a:prstGeom prst="line">
            <a:avLst/>
          </a:prstGeom>
          <a:noFill/>
          <a:ln w="31750">
            <a:solidFill>
              <a:srgbClr val="A9C4AE"/>
            </a:solidFill>
            <a:prstDash val="solid"/>
          </a:ln>
        </p:spPr>
      </p:sp>
      <p:sp>
        <p:nvSpPr>
          <p:cNvPr id="28" name="end-rose-origin"/>
          <p:cNvSpPr/>
          <p:nvPr/>
        </p:nvSpPr>
        <p:spPr>
          <a:xfrm>
            <a:off x="9244584" y="3483864"/>
            <a:ext cx="164592" cy="164592"/>
          </a:xfrm>
          <a:prstGeom prst="ellipse">
            <a:avLst/>
          </a:prstGeom>
          <a:solidFill>
            <a:srgbClr val="A9C4AE"/>
          </a:solidFill>
          <a:ln w="12700">
            <a:solidFill>
              <a:srgbClr val="A9C4AE"/>
            </a:solidFill>
            <a:prstDash val="solid"/>
          </a:ln>
        </p:spPr>
      </p:sp>
    </p:spTree>
  </p:cSld>
  <p:clrMapOvr>
    <a:masterClrMapping/>
  </p:clrMapOvr>
</p:sld>
</file>

<file path=ppt/theme/theme1.xml><?xml version="1.0" encoding="utf-8"?>
<a:theme xmlns:a="http://schemas.openxmlformats.org/drawingml/2006/main" name="Seismic Forest">
  <a:themeElements>
    <a:clrScheme name="Seismic Forest">
      <a:dk1>
        <a:srgbClr val="1F2A21"/>
      </a:dk1>
      <a:lt1>
        <a:srgbClr val="FFFFFF"/>
      </a:lt1>
      <a:dk2>
        <a:srgbClr val="2B392D"/>
      </a:dk2>
      <a:lt2>
        <a:srgbClr val="EFE5CB"/>
      </a:lt2>
      <a:accent1>
        <a:srgbClr val="F08A4B"/>
      </a:accent1>
      <a:accent2>
        <a:srgbClr val="A9C4AE"/>
      </a:accent2>
      <a:accent3>
        <a:srgbClr val="D9C48F"/>
      </a:accent3>
      <a:accent4>
        <a:srgbClr val="4F6C57"/>
      </a:accent4>
      <a:accent5>
        <a:srgbClr val="B4472A"/>
      </a:accent5>
      <a:accent6>
        <a:srgbClr val="8FB3C4"/>
      </a:accent6>
      <a:hlink>
        <a:srgbClr val="F0A56B"/>
      </a:hlink>
      <a:folHlink>
        <a:srgbClr val="B9A57C"/>
      </a:folHlink>
    </a:clrScheme>
    <a:fontScheme name="Seismic Fore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2880</Words>
  <Application>Microsoft Office PowerPoint</Application>
  <PresentationFormat>Widescreen</PresentationFormat>
  <Paragraphs>259</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Courier New</vt:lpstr>
      <vt:lpstr>Seismic Forest</vt:lpstr>
      <vt:lpstr>Detecting and Predicting Earthquake Ground-Motion Directionality</vt:lpstr>
      <vt:lpstr>Shaking has a strongest direction that varies by site</vt:lpstr>
      <vt:lpstr>The reference paper: a neural network beat ridge and a distance benchmark</vt:lpstr>
      <vt:lpstr>Our data: a small, non-random subset of NGA-West2</vt:lpstr>
      <vt:lpstr>Pipeline: from raw accelerograms to station-pair examples</vt:lpstr>
      <vt:lpstr>Δθ is the axial angle between two stations' orientations</vt:lpstr>
      <vt:lpstr>Three evaluation settings and three models</vt:lpstr>
      <vt:lpstr>On the 100 km random split, no model beat the baseline</vt:lpstr>
      <vt:lpstr>Held out by earthquake, the MLP generalised worst</vt:lpstr>
      <vt:lpstr>The paper's models improve with complexity; ours do not</vt:lpstr>
      <vt:lpstr>Why the models did not beat the baselines</vt:lpstr>
      <vt:lpstr>Limitations and what we still need to verify</vt:lpstr>
      <vt:lpstr>Conclusion and future work</vt:lpstr>
      <vt:lpstr>Reproducible pipeline: Colab or local</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Detecting and Predicting Earthquake Ground-Motion Directionality</dc:title>
  <dc:subject>UE24CS352A Machine Learning mini-project review</dc:subject>
  <dc:creator>Harshitha.B.T</dc:creator>
  <cp:lastModifiedBy>HARSHITHA B T</cp:lastModifiedBy>
  <cp:revision>2</cp:revision>
  <dcterms:created xsi:type="dcterms:W3CDTF">2026-10-13T05:50:14Z</dcterms:created>
  <dcterms:modified xsi:type="dcterms:W3CDTF">2026-10-29T03:35:17Z</dcterms:modified>
</cp:coreProperties>
</file>